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2"/>
  </p:notesMasterIdLst>
  <p:handoutMasterIdLst>
    <p:handoutMasterId r:id="rId23"/>
  </p:handoutMasterIdLst>
  <p:sldIdLst>
    <p:sldId id="256" r:id="rId5"/>
    <p:sldId id="295" r:id="rId6"/>
    <p:sldId id="290" r:id="rId7"/>
    <p:sldId id="307" r:id="rId8"/>
    <p:sldId id="291" r:id="rId9"/>
    <p:sldId id="292" r:id="rId10"/>
    <p:sldId id="304" r:id="rId11"/>
    <p:sldId id="297" r:id="rId12"/>
    <p:sldId id="293" r:id="rId13"/>
    <p:sldId id="301" r:id="rId14"/>
    <p:sldId id="299" r:id="rId15"/>
    <p:sldId id="305" r:id="rId16"/>
    <p:sldId id="303" r:id="rId17"/>
    <p:sldId id="300" r:id="rId18"/>
    <p:sldId id="302" r:id="rId19"/>
    <p:sldId id="306" r:id="rId20"/>
    <p:sldId id="288" r:id="rId2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8EB2A4-B59B-45EB-9045-5365B61679F5}" v="1" dt="2026-03-10T14:43:44.96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10/03/2026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10/03/2026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51598-9754-29CE-3ACE-FBF9606534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450311-3D17-58EF-37DA-D74F33D70469}"/>
              </a:ext>
            </a:extLst>
          </p:cNvPr>
          <p:cNvSpPr>
            <a:spLocks noGrp="1" noRot="1" noChangeAspect="1"/>
          </p:cNvSpPr>
          <p:nvPr>
            <p:ph type="sldImg"/>
          </p:nvPr>
        </p:nvSpPr>
        <p:spPr/>
        <p:txBody>
          <a:bodyPr/>
          <a:lstStyle/>
          <a:p>
            <a:endParaRPr lang="es-ES"/>
          </a:p>
        </p:txBody>
      </p:sp>
      <p:sp>
        <p:nvSpPr>
          <p:cNvPr id="3" name="Marcador de notas 2">
            <a:extLst>
              <a:ext uri="{FF2B5EF4-FFF2-40B4-BE49-F238E27FC236}">
                <a16:creationId xmlns:a16="http://schemas.microsoft.com/office/drawing/2014/main" id="{21BC107A-ED62-21C6-3C14-176BEDFF31E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9AA297A-1EF4-C838-9423-A4754E76E0C0}"/>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23124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3F753-3C02-D9EE-7C2A-683ED2B62B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FE5777A-807C-1DCD-7A9F-681296256B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FD6457-0064-9B4C-8330-98A6FD120EB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A22CDD6-841D-9BB6-DF77-93812CD8C039}"/>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739466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3F94D-425C-31FF-A850-11D6C60736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86A8A8-59C0-A8F0-3F5C-BCD36E5C8F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119725-093C-BC05-3B49-74A45950B29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52F9EBB-4401-517C-4112-7324C3D64E85}"/>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1079299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89AFE-3218-B7BC-90B9-2E9E9C006E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0109CE-282B-B028-9213-F53947F1862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948792D-C074-A62E-91C1-71B58946DFE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584DAC9-7BEC-4D00-24C7-B80AE11D2A4A}"/>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424552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F2906-F6DB-321E-F5F8-18A4F89F3CF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6E951B4-0211-9D23-0623-796D32E636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85F52B-6001-98CE-5007-E0BA66EDBD2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697F77C-F115-0E6F-05B2-96849532C97C}"/>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977446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833B3-52D7-F844-85BB-83D043A584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74F215-1172-F6D1-38F3-B8F8B67F90D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E901420-639F-E9C8-CE7F-EF9188D16860}"/>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76049C2-578D-872B-FA5D-D40CBB7992C0}"/>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4009249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71FE2-FF8D-4000-477A-29AC0CE64D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5EE8C9-9AB6-2BE9-AD0C-2F128E721AC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54606C4-EAFA-9C9E-6AE9-F7FAC2F69AA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499E33C-9A87-4F03-53EE-FAA588BB8FB3}"/>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478787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64FBC-990B-0C84-50F4-01C1B75D26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057D6D-A1D0-59B4-9FEE-F7F09E12B8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55D9F8-B6FB-F53B-0A08-C3F74CC42B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61E0C78-4469-8DD1-BB48-31B6C0C46853}"/>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669830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7.sv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5279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Students:Antonio</a:t>
            </a:r>
            <a:r>
              <a:rPr lang="es-ES" spc="165">
                <a:latin typeface="Arial"/>
                <a:cs typeface="Arial"/>
              </a:rPr>
              <a:t> Pla Rodríguez y Jaume Francesc Giménez Lozano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WAVEGUIDES_Student.ipynb</a:t>
            </a:r>
            <a:r>
              <a:rPr lang="en-US" kern="0">
                <a:solidFill>
                  <a:sysClr val="windowText" lastClr="000000"/>
                </a:solidFill>
              </a:rPr>
              <a:t> </a:t>
            </a:r>
          </a:p>
          <a:p>
            <a:pPr algn="just"/>
            <a:endParaRPr lang="en-US" sz="2000" b="1" i="1" u="sng"/>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a:latin typeface="Times New Roman"/>
              <a:cs typeface="Times New Roman"/>
            </a:endParaRPr>
          </a:p>
          <a:p>
            <a:pPr marL="18415">
              <a:lnSpc>
                <a:spcPct val="100000"/>
              </a:lnSpc>
            </a:pPr>
            <a:r>
              <a:rPr lang="es-ES" sz="1600" b="1" spc="-10" err="1">
                <a:latin typeface="Calibri"/>
                <a:cs typeface="Calibri"/>
              </a:rPr>
              <a:t>Slab</a:t>
            </a:r>
            <a:endParaRPr sz="160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err="1">
                <a:latin typeface="Calibri"/>
                <a:cs typeface="Calibri"/>
              </a:rPr>
              <a:t>h_slab</a:t>
            </a:r>
            <a:endParaRPr sz="140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err="1">
                <a:latin typeface="Calibri"/>
                <a:cs typeface="Calibri"/>
              </a:rPr>
              <a:t>h_core</a:t>
            </a:r>
            <a:r>
              <a:rPr lang="es-ES" sz="1400" spc="-10">
                <a:latin typeface="Calibri"/>
                <a:cs typeface="Calibri"/>
              </a:rPr>
              <a:t> </a:t>
            </a:r>
            <a:endParaRPr sz="14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a:t>shallow</a:t>
            </a:r>
            <a:r>
              <a:rPr lang="en-US"/>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a:t>deep</a:t>
            </a:r>
            <a:r>
              <a:rPr lang="en-US"/>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materials, output, results.</a:t>
            </a:r>
          </a:p>
          <a:p>
            <a:pPr marL="342900" indent="-342900" algn="just">
              <a:buFont typeface="Arial" panose="020B0604020202020204" pitchFamily="34" charset="0"/>
              <a:buChar char="•"/>
            </a:pPr>
            <a:r>
              <a:rPr lang="en-US" sz="2000" dirty="0"/>
              <a:t>Explain how to run a simulation for a particular cross-section. </a:t>
            </a:r>
          </a:p>
          <a:p>
            <a:pPr marL="342900" indent="-342900" algn="just">
              <a:buFont typeface="Arial" panose="020B0604020202020204" pitchFamily="34" charset="0"/>
              <a:buChar char="•"/>
            </a:pPr>
            <a:r>
              <a:rPr lang="en-US" sz="2000" dirty="0"/>
              <a:t>Showcase how to change between shallow and deep waveguide.</a:t>
            </a:r>
          </a:p>
          <a:p>
            <a:pPr marL="342900" indent="-342900" algn="just">
              <a:buFont typeface="Arial" panose="020B0604020202020204" pitchFamily="34" charset="0"/>
              <a:buChar char="•"/>
            </a:pPr>
            <a:r>
              <a:rPr lang="en-US" sz="2000" dirty="0"/>
              <a:t>Describe how to change the wavelength and width for the waveguide analysis.</a:t>
            </a:r>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a:t>
            </a:r>
            <a:r>
              <a:rPr lang="en-US" sz="2000" dirty="0" err="1"/>
              <a:t>neff</a:t>
            </a:r>
            <a:r>
              <a:rPr lang="en-US" sz="2000" dirty="0"/>
              <a:t> …)</a:t>
            </a:r>
          </a:p>
          <a:p>
            <a:pPr algn="just"/>
            <a:endParaRPr lang="en-US" sz="2000" b="1" i="1" dirty="0"/>
          </a:p>
          <a:p>
            <a:pPr algn="just"/>
            <a:endParaRPr lang="en-US" sz="2000" kern="0" dirty="0">
              <a:solidFill>
                <a:sysClr val="windowText" lastClr="000000"/>
              </a:solidFill>
            </a:endParaRPr>
          </a:p>
        </p:txBody>
      </p:sp>
      <p:pic>
        <p:nvPicPr>
          <p:cNvPr id="6" name="Imagen 5">
            <a:extLst>
              <a:ext uri="{FF2B5EF4-FFF2-40B4-BE49-F238E27FC236}">
                <a16:creationId xmlns:a16="http://schemas.microsoft.com/office/drawing/2014/main" id="{92D82CEC-3DB4-2350-90C8-010A03513BAB}"/>
              </a:ext>
            </a:extLst>
          </p:cNvPr>
          <p:cNvPicPr>
            <a:picLocks noChangeAspect="1"/>
          </p:cNvPicPr>
          <p:nvPr/>
        </p:nvPicPr>
        <p:blipFill>
          <a:blip r:embed="rId5"/>
          <a:stretch>
            <a:fillRect/>
          </a:stretch>
        </p:blipFill>
        <p:spPr>
          <a:xfrm>
            <a:off x="1331758" y="4169759"/>
            <a:ext cx="3123510" cy="2083778"/>
          </a:xfrm>
          <a:prstGeom prst="rect">
            <a:avLst/>
          </a:prstGeom>
        </p:spPr>
      </p:pic>
      <p:pic>
        <p:nvPicPr>
          <p:cNvPr id="8" name="Imagen 7">
            <a:extLst>
              <a:ext uri="{FF2B5EF4-FFF2-40B4-BE49-F238E27FC236}">
                <a16:creationId xmlns:a16="http://schemas.microsoft.com/office/drawing/2014/main" id="{C305B46A-7420-F615-2211-DFB136BA7E94}"/>
              </a:ext>
            </a:extLst>
          </p:cNvPr>
          <p:cNvPicPr>
            <a:picLocks noChangeAspect="1"/>
          </p:cNvPicPr>
          <p:nvPr/>
        </p:nvPicPr>
        <p:blipFill>
          <a:blip r:embed="rId6"/>
          <a:stretch>
            <a:fillRect/>
          </a:stretch>
        </p:blipFill>
        <p:spPr>
          <a:xfrm>
            <a:off x="6421021" y="4169759"/>
            <a:ext cx="3017271" cy="2017070"/>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AE1B5-4F8E-7801-8244-4B8362F037B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C433D10-69B4-C19C-AC56-60BD8303E0F9}"/>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A71FDE4E-6BA8-9AEC-F147-34FADD9AA6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2BA84EB-BC56-8089-049D-38EFD8C5809C}"/>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92F81CC7-837E-8B1D-644A-9E40A54FDECD}"/>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1CF37184-4608-4B2D-FE82-B6FEEA68546D}"/>
              </a:ext>
            </a:extLst>
          </p:cNvPr>
          <p:cNvSpPr txBox="1"/>
          <p:nvPr/>
        </p:nvSpPr>
        <p:spPr>
          <a:xfrm>
            <a:off x="608012" y="4148733"/>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s-ES" sz="1200"/>
              <a:t>Estos son los resultados que hemos obtenido en la lección LO.1: </a:t>
            </a:r>
          </a:p>
          <a:p>
            <a:pPr algn="just"/>
            <a:r>
              <a:rPr lang="es-ES" sz="1200"/>
              <a:t>Los valores del índice efectivo (</a:t>
            </a:r>
            <a:r>
              <a:rPr lang="es-ES" sz="1200" err="1"/>
              <a:t>neff</a:t>
            </a:r>
            <a:r>
              <a:rPr lang="es-ES" sz="1200"/>
              <a:t>) se sitúan dentro del rango esperado, es decir, entre el índice del núcleo (≈</a:t>
            </a:r>
            <a:r>
              <a:rPr lang="es-ES" sz="1200" dirty="0"/>
              <a:t>1.998 </a:t>
            </a:r>
            <a:r>
              <a:rPr lang="es-ES" sz="1200"/>
              <a:t>para el </a:t>
            </a:r>
            <a:r>
              <a:rPr lang="es-ES" sz="1200" err="1"/>
              <a:t>SiNx</a:t>
            </a:r>
            <a:r>
              <a:rPr lang="es-ES" sz="1200"/>
              <a:t>) y el índice de la cubierta (≈</a:t>
            </a:r>
            <a:r>
              <a:rPr lang="es-ES" sz="1200" dirty="0"/>
              <a:t>1.457</a:t>
            </a:r>
            <a:r>
              <a:rPr lang="es-ES" sz="1200"/>
              <a:t> para el </a:t>
            </a:r>
            <a:r>
              <a:rPr lang="es-ES" sz="1200" err="1"/>
              <a:t>SiO</a:t>
            </a:r>
            <a:r>
              <a:rPr lang="es-ES" sz="1200"/>
              <a:t>₂), lo que confirma que los modos calculados están realmente guiados. Para que se pueda retransmitir a través del medio el índice del núcleo debe de ser mayor que el de fuera, así existir el confinamiento y poder retransmitir. </a:t>
            </a:r>
          </a:p>
          <a:p>
            <a:pPr algn="just"/>
            <a:r>
              <a:rPr lang="es-ES" sz="1200"/>
              <a:t>Se observa que únicamente los dos primeros modos presentan valores de </a:t>
            </a:r>
            <a:r>
              <a:rPr lang="es-ES" sz="1200" err="1"/>
              <a:t>neff</a:t>
            </a:r>
            <a:r>
              <a:rPr lang="es-ES" sz="1200"/>
              <a:t> superiores al índice de la cubierta, por lo que pueden considerarse modos válidos, mientras que los modos dos y tres, al estar cerca del valor de la cubierta, no pueden considerarse bien confinados y, por tanto, sus polarizaciones no son relevantes. </a:t>
            </a:r>
          </a:p>
          <a:p>
            <a:pPr algn="just"/>
            <a:r>
              <a:rPr lang="es-ES" sz="1200"/>
              <a:t>Desde el punto de vista de la polarización, el primer modo es el TE₀, al presentar una </a:t>
            </a:r>
            <a:r>
              <a:rPr lang="es-ES" sz="1200" err="1"/>
              <a:t>fraction_te</a:t>
            </a:r>
            <a:r>
              <a:rPr lang="es-ES" sz="1200"/>
              <a:t> cercana a 1, mientras que el segundo modo corresponde a TM₀. A la hora de representar los campos eléctricos vemos que el modo TE₀ presenta discontinuidades en la componente horizontal, asociadas al salto de índice en las paredes laterales del núcleo, mientras que en el modo TM₀ las discontinuidades aparecen principalmente en dirección vertical. Además, el modo TM₀ muestra mayor presencia del campo en la cubierta, es decir, está menos confinado que el modo TE₀, lo que explica que su índice efectivo sea ligeramente menor. </a:t>
            </a:r>
            <a:endParaRPr lang="en-US" sz="120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AAF03999-4CA4-1806-FCCB-CF5D2D64826B}"/>
              </a:ext>
            </a:extLst>
          </p:cNvPr>
          <p:cNvPicPr>
            <a:picLocks noChangeAspect="1"/>
          </p:cNvPicPr>
          <p:nvPr/>
        </p:nvPicPr>
        <p:blipFill>
          <a:blip r:embed="rId5"/>
          <a:stretch>
            <a:fillRect/>
          </a:stretch>
        </p:blipFill>
        <p:spPr>
          <a:xfrm>
            <a:off x="819475" y="968672"/>
            <a:ext cx="4550194" cy="3045895"/>
          </a:xfrm>
          <a:prstGeom prst="rect">
            <a:avLst/>
          </a:prstGeom>
        </p:spPr>
      </p:pic>
      <p:pic>
        <p:nvPicPr>
          <p:cNvPr id="7" name="Imagen 6">
            <a:extLst>
              <a:ext uri="{FF2B5EF4-FFF2-40B4-BE49-F238E27FC236}">
                <a16:creationId xmlns:a16="http://schemas.microsoft.com/office/drawing/2014/main" id="{E6CE28E9-93D4-C07B-2E32-0C0E381C48C7}"/>
              </a:ext>
            </a:extLst>
          </p:cNvPr>
          <p:cNvPicPr>
            <a:picLocks noChangeAspect="1"/>
          </p:cNvPicPr>
          <p:nvPr/>
        </p:nvPicPr>
        <p:blipFill>
          <a:blip r:embed="rId6"/>
          <a:stretch>
            <a:fillRect/>
          </a:stretch>
        </p:blipFill>
        <p:spPr>
          <a:xfrm>
            <a:off x="6200940" y="957730"/>
            <a:ext cx="4647998" cy="3045895"/>
          </a:xfrm>
          <a:prstGeom prst="rect">
            <a:avLst/>
          </a:prstGeom>
        </p:spPr>
      </p:pic>
    </p:spTree>
    <p:extLst>
      <p:ext uri="{BB962C8B-B14F-4D97-AF65-F5344CB8AC3E}">
        <p14:creationId xmlns:p14="http://schemas.microsoft.com/office/powerpoint/2010/main" val="1447267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598795" y="248770"/>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562230" y="4202747"/>
            <a:ext cx="11199970" cy="1954381"/>
          </a:xfrm>
          <a:prstGeom prst="rect">
            <a:avLst/>
          </a:prstGeom>
          <a:solidFill>
            <a:schemeClr val="bg1">
              <a:lumMod val="95000"/>
            </a:schemeClr>
          </a:solidFill>
          <a:ln w="28575">
            <a:solidFill>
              <a:srgbClr val="E0700D"/>
            </a:solidFill>
          </a:ln>
        </p:spPr>
        <p:txBody>
          <a:bodyPr wrap="square" rtlCol="0">
            <a:spAutoFit/>
          </a:bodyPr>
          <a:lstStyle/>
          <a:p>
            <a:pPr lvl="0" eaLnBrk="0" fontAlgn="base" hangingPunct="0">
              <a:spcBef>
                <a:spcPct val="0"/>
              </a:spcBef>
              <a:spcAft>
                <a:spcPct val="0"/>
              </a:spcAft>
            </a:pPr>
            <a:r>
              <a:rPr lang="es-ES" altLang="es-ES" sz="1100" dirty="0">
                <a:latin typeface="Google Sans Text"/>
              </a:rPr>
              <a:t>En ambas configuraciones, vemos como hay una tendencia decreciente: a medida que la longitud de onda aumenta, el índice efectivo de todos los modos disminuye. Esto ocurre porque, físicamente, al aumentar la longitud de onda, el campo eléctrico del modo se vuelve más grande y tiende a expandirse fuera del núcleo de la guía. Al penetrar más en los materiales de alrededor ,como la cubierta , que teniendo un índice de refracción menor , hace que la luz se distribuya en estas regiones. </a:t>
            </a:r>
          </a:p>
          <a:p>
            <a:pPr lvl="0" eaLnBrk="0" fontAlgn="base" hangingPunct="0">
              <a:spcBef>
                <a:spcPct val="0"/>
              </a:spcBef>
              <a:spcAft>
                <a:spcPct val="0"/>
              </a:spcAft>
            </a:pPr>
            <a:r>
              <a:rPr lang="es-ES" altLang="es-ES" sz="1100" dirty="0">
                <a:latin typeface="Google Sans Text"/>
              </a:rPr>
              <a:t>Respecto a la comparación entre las dos configuraciones: </a:t>
            </a:r>
          </a:p>
          <a:p>
            <a:pPr lvl="0" eaLnBrk="0" fontAlgn="base" hangingPunct="0">
              <a:spcBef>
                <a:spcPct val="0"/>
              </a:spcBef>
              <a:spcAft>
                <a:spcPct val="0"/>
              </a:spcAft>
            </a:pPr>
            <a:r>
              <a:rPr lang="es-ES" altLang="es-ES" sz="1100" dirty="0">
                <a:latin typeface="Google Sans Text"/>
              </a:rPr>
              <a:t>-En la configuración </a:t>
            </a:r>
            <a:r>
              <a:rPr lang="es-ES" altLang="es-ES" sz="1100" b="1" dirty="0" err="1">
                <a:latin typeface="Google Sans Text"/>
              </a:rPr>
              <a:t>shallow</a:t>
            </a:r>
            <a:r>
              <a:rPr lang="es-ES" altLang="es-ES" sz="1100" dirty="0">
                <a:latin typeface="Google Sans Text"/>
              </a:rPr>
              <a:t>, al tener una extensión de la guía de onda (respecto la configuración Deep) a los lados del núcleo, el campo eléctrico puede extenderse un poco más hacia los laterales. El resultado es que la luz no está tan apretada, permitiendo que los modos de orden superior (como el 2 y el 3) mantengan un </a:t>
            </a:r>
            <a:r>
              <a:rPr lang="es-ES" altLang="es-ES" sz="1100" dirty="0" err="1">
                <a:latin typeface="Google Sans Text"/>
              </a:rPr>
              <a:t>neff</a:t>
            </a:r>
            <a:r>
              <a:rPr lang="es-ES" altLang="es-ES" sz="1100" dirty="0">
                <a:latin typeface="Google Sans Text"/>
              </a:rPr>
              <a:t> alto y se puedan llegar a propagar. Gracias a este diseño, los cuatro modos permanecen significativamente por encima del índice del SiO2, quedando atrapados por reflexión interna total y guiándose de manera eficiente en todo el rango de longitudes de onda mostradas.</a:t>
            </a:r>
            <a:endParaRPr lang="es-ES" altLang="es-ES" sz="1100" dirty="0"/>
          </a:p>
          <a:p>
            <a:pPr lvl="0" eaLnBrk="0" fontAlgn="base" hangingPunct="0">
              <a:spcBef>
                <a:spcPct val="0"/>
              </a:spcBef>
              <a:spcAft>
                <a:spcPct val="0"/>
              </a:spcAft>
            </a:pPr>
            <a:r>
              <a:rPr lang="es-ES" altLang="es-ES" sz="1100" dirty="0">
                <a:latin typeface="Google Sans Text"/>
              </a:rPr>
              <a:t>-En cambio, en la guía </a:t>
            </a:r>
            <a:r>
              <a:rPr lang="es-ES" altLang="es-ES" sz="1100" b="1" dirty="0" err="1">
                <a:latin typeface="Google Sans Text"/>
              </a:rPr>
              <a:t>deep</a:t>
            </a:r>
            <a:r>
              <a:rPr lang="es-ES" altLang="es-ES" sz="1100" dirty="0">
                <a:latin typeface="Google Sans Text"/>
              </a:rPr>
              <a:t> al no disponer de la anterior extensión horizontal, se genera un confinamiento muy fuerte que encierra el campo eléctrico en el centro. Al no existir ese alargamiento, los modos 2 y 3 no se propagan debido a que no tienen espacio para poder propagarse. Esto se puede observar en la gráfica, donde sus índices caen por debajo de la línea del SiO2 y, al ser menor o igual al índice de la cubierta, dejen de estar confinados. En cambio, los modos 0 y 1 logran propagarse al ser su índice efectivo mayor al de la cubierta</a:t>
            </a:r>
            <a:endParaRPr lang="es-ES" altLang="es-ES" sz="1100" dirty="0">
              <a:latin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562230" y="1016406"/>
            <a:ext cx="5332571" cy="308184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a:t>shallow</a:t>
            </a:r>
            <a:r>
              <a:rPr lang="en-US"/>
              <a:t> waveguide</a:t>
            </a:r>
          </a:p>
          <a:p>
            <a:pPr algn="ctr"/>
            <a:endParaRPr lang="en-US"/>
          </a:p>
          <a:p>
            <a:pPr algn="ctr"/>
            <a:r>
              <a:rPr lang="en-US"/>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29629" y="1016406"/>
            <a:ext cx="5332571" cy="308184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a:t>deep</a:t>
            </a:r>
            <a:r>
              <a:rPr lang="en-US"/>
              <a:t> waveguide</a:t>
            </a:r>
          </a:p>
          <a:p>
            <a:pPr algn="ctr"/>
            <a:endParaRPr lang="en-US"/>
          </a:p>
          <a:p>
            <a:pPr algn="ctr"/>
            <a:r>
              <a:rPr lang="en-US"/>
              <a:t>Paste plot here</a:t>
            </a:r>
          </a:p>
        </p:txBody>
      </p:sp>
      <p:pic>
        <p:nvPicPr>
          <p:cNvPr id="12" name="Imagen 11" descr="Gráfico, Gráfico de líneas&#10;&#10;El contenido generado por IA puede ser incorrecto.">
            <a:extLst>
              <a:ext uri="{FF2B5EF4-FFF2-40B4-BE49-F238E27FC236}">
                <a16:creationId xmlns:a16="http://schemas.microsoft.com/office/drawing/2014/main" id="{C3C79285-B10E-8C51-4FF3-B9F52EFD5641}"/>
              </a:ext>
            </a:extLst>
          </p:cNvPr>
          <p:cNvPicPr>
            <a:picLocks noChangeAspect="1"/>
          </p:cNvPicPr>
          <p:nvPr/>
        </p:nvPicPr>
        <p:blipFill>
          <a:blip r:embed="rId5"/>
          <a:stretch>
            <a:fillRect/>
          </a:stretch>
        </p:blipFill>
        <p:spPr>
          <a:xfrm>
            <a:off x="6476840" y="1019139"/>
            <a:ext cx="5238148" cy="3054342"/>
          </a:xfrm>
          <a:prstGeom prst="rect">
            <a:avLst/>
          </a:prstGeom>
        </p:spPr>
      </p:pic>
      <p:pic>
        <p:nvPicPr>
          <p:cNvPr id="14" name="Imagen 13" descr="Gráfico, Gráfico de líneas&#10;&#10;El contenido generado por IA puede ser incorrecto.">
            <a:extLst>
              <a:ext uri="{FF2B5EF4-FFF2-40B4-BE49-F238E27FC236}">
                <a16:creationId xmlns:a16="http://schemas.microsoft.com/office/drawing/2014/main" id="{8924EBEC-1053-F871-00BF-3E172FFAB2D1}"/>
              </a:ext>
            </a:extLst>
          </p:cNvPr>
          <p:cNvPicPr>
            <a:picLocks noChangeAspect="1"/>
          </p:cNvPicPr>
          <p:nvPr/>
        </p:nvPicPr>
        <p:blipFill>
          <a:blip r:embed="rId6"/>
          <a:srcRect r="531" b="4772"/>
          <a:stretch>
            <a:fillRect/>
          </a:stretch>
        </p:blipFill>
        <p:spPr>
          <a:xfrm>
            <a:off x="584245" y="1056021"/>
            <a:ext cx="5288539" cy="3017460"/>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Width dependence</a:t>
            </a:r>
            <a:br>
              <a:rPr lang="es-ES" sz="2500" spc="-5">
                <a:latin typeface="+mj-lt"/>
                <a:cs typeface="Lucida Sans"/>
              </a:rPr>
            </a:br>
            <a:r>
              <a:rPr lang="en-US" b="0"/>
              <a:t>Width 0.6 - 1.6 µm (step 0.1 µm) – Wavelength 1.55 µm </a:t>
            </a:r>
            <a:endParaRPr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495800"/>
            <a:ext cx="11199971" cy="1569660"/>
          </a:xfrm>
          <a:prstGeom prst="rect">
            <a:avLst/>
          </a:prstGeom>
          <a:solidFill>
            <a:schemeClr val="bg1">
              <a:lumMod val="95000"/>
            </a:schemeClr>
          </a:solidFill>
          <a:ln w="28575">
            <a:solidFill>
              <a:srgbClr val="E0700D"/>
            </a:solidFill>
          </a:ln>
        </p:spPr>
        <p:txBody>
          <a:bodyPr wrap="square" rtlCol="0">
            <a:spAutoFit/>
          </a:bodyPr>
          <a:lstStyle/>
          <a:p>
            <a:r>
              <a:rPr lang="es-ES" sz="1200" dirty="0"/>
              <a:t>A medida que aumento el ancho de la guía entre 0,6 y 1,6 µm, se observa que el índice efectivo de todos los modos crece de forma bastante clara y continua. Esto tiene sentido porque, al ensanchar la guía, el campo electromagnético queda más confinado dentro del núcleo. Es decir, una mayor parte de la energía se concentra en la región de mayor índice, y por eso el índice efectivo aumenta. Respecto a los Modos 0 y 1, estos se mantienen guiados en todo momento. Sin embargo, el Modo 2 presenta un corte claro: empieza a guiarse aproximadamente a partir de 1,3 µm, cuando su índice efectivo supera al de la cubierta.</a:t>
            </a:r>
          </a:p>
          <a:p>
            <a:r>
              <a:rPr lang="es-ES" sz="1200" dirty="0"/>
              <a:t>Respecto a la polarización, el mapa de color permite distinguir el carácter de cada modo mediante la fracción TE. El Modo 0 es el fundamental TE (fracción TE cercana a 1), mientras que el Modo 1 es el fundamental TM (fracción TE cercana a 0). Los Modos 2 y 3 son de orden superior y, al aumentar el ancho, tienden a estabilizarse como TE y TM, respectivamente. En definitiva, el ancho de la guía es un parámetro de diseño clave, ya que influye directamente en el confinamiento, en la aparición de modos de orden superior y en la polarización de cada modo.</a:t>
            </a:r>
          </a:p>
        </p:txBody>
      </p:sp>
      <p:sp>
        <p:nvSpPr>
          <p:cNvPr id="7" name="Rectángulo 6">
            <a:extLst>
              <a:ext uri="{FF2B5EF4-FFF2-40B4-BE49-F238E27FC236}">
                <a16:creationId xmlns:a16="http://schemas.microsoft.com/office/drawing/2014/main" id="{FBC7D187-267A-ADD4-764C-D3820B8ED302}"/>
              </a:ext>
            </a:extLst>
          </p:cNvPr>
          <p:cNvSpPr/>
          <p:nvPr/>
        </p:nvSpPr>
        <p:spPr>
          <a:xfrm>
            <a:off x="609441" y="1146247"/>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líneas&#10;&#10;El contenido generado por IA puede ser incorrecto.">
            <a:extLst>
              <a:ext uri="{FF2B5EF4-FFF2-40B4-BE49-F238E27FC236}">
                <a16:creationId xmlns:a16="http://schemas.microsoft.com/office/drawing/2014/main" id="{1719974C-E570-9AC3-E97C-7D45D5D4458C}"/>
              </a:ext>
            </a:extLst>
          </p:cNvPr>
          <p:cNvPicPr>
            <a:picLocks noChangeAspect="1"/>
          </p:cNvPicPr>
          <p:nvPr/>
        </p:nvPicPr>
        <p:blipFill>
          <a:blip r:embed="rId5"/>
          <a:stretch>
            <a:fillRect/>
          </a:stretch>
        </p:blipFill>
        <p:spPr>
          <a:xfrm>
            <a:off x="3047126" y="1144638"/>
            <a:ext cx="6324600" cy="3226249"/>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DA5FA-495C-5FCB-D244-5B66EB01E40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1084BFC-4E4D-2AF6-1F7B-1F916FE24F6F}"/>
              </a:ext>
            </a:extLst>
          </p:cNvPr>
          <p:cNvSpPr txBox="1">
            <a:spLocks noGrp="1"/>
          </p:cNvSpPr>
          <p:nvPr>
            <p:ph type="title"/>
          </p:nvPr>
        </p:nvSpPr>
        <p:spPr>
          <a:xfrm>
            <a:off x="609440" y="88284"/>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207791A-1B37-A4D5-A715-2991536772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2C25A95-4D5C-2673-B5AA-D504E757A7B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B40318FB-077D-BE3E-8B59-AD8DBEFD9362}"/>
              </a:ext>
            </a:extLst>
          </p:cNvPr>
          <p:cNvSpPr>
            <a:spLocks noGrp="1"/>
          </p:cNvSpPr>
          <p:nvPr>
            <p:ph type="ftr" sz="quarter" idx="5"/>
          </p:nvPr>
        </p:nvSpPr>
        <p:spPr/>
        <p:txBody>
          <a:bodyPr/>
          <a:lstStyle/>
          <a:p>
            <a:pPr marL="12700">
              <a:spcBef>
                <a:spcPts val="15"/>
              </a:spcBef>
            </a:pPr>
            <a:r>
              <a:rPr lang="es-ES" spc="-5"/>
              <a:t>LAB 1.0 WAVEGUIDES</a:t>
            </a:r>
          </a:p>
        </p:txBody>
      </p:sp>
      <p:sp>
        <p:nvSpPr>
          <p:cNvPr id="5" name="Rectángulo 4">
            <a:extLst>
              <a:ext uri="{FF2B5EF4-FFF2-40B4-BE49-F238E27FC236}">
                <a16:creationId xmlns:a16="http://schemas.microsoft.com/office/drawing/2014/main" id="{035E13DB-3C54-5E7A-E28E-657872E5086E}"/>
              </a:ext>
            </a:extLst>
          </p:cNvPr>
          <p:cNvSpPr/>
          <p:nvPr/>
        </p:nvSpPr>
        <p:spPr>
          <a:xfrm>
            <a:off x="649838" y="1101858"/>
            <a:ext cx="5486559" cy="513357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377D8772-D8AC-5135-8DBD-CBA5D0B69D78}"/>
              </a:ext>
            </a:extLst>
          </p:cNvPr>
          <p:cNvSpPr/>
          <p:nvPr/>
        </p:nvSpPr>
        <p:spPr>
          <a:xfrm>
            <a:off x="6321421" y="1101856"/>
            <a:ext cx="5486559" cy="513357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3B28555F-BCF3-601D-A15A-0408660C0EA5}"/>
                  </a:ext>
                </a:extLst>
              </p:cNvPr>
              <p:cNvSpPr txBox="1"/>
              <p:nvPr/>
            </p:nvSpPr>
            <p:spPr>
              <a:xfrm>
                <a:off x="609440" y="2709096"/>
                <a:ext cx="5486559" cy="1200329"/>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b="1"/>
                  <a:t>neff_TE0 vs </a:t>
                </a:r>
                <a14:m>
                  <m:oMath xmlns:m="http://schemas.openxmlformats.org/officeDocument/2006/math">
                    <m:r>
                      <a:rPr lang="es-ES" b="1" i="1" smtClean="0">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9" name="CuadroTexto 8">
                <a:extLst>
                  <a:ext uri="{FF2B5EF4-FFF2-40B4-BE49-F238E27FC236}">
                    <a16:creationId xmlns:a16="http://schemas.microsoft.com/office/drawing/2014/main" id="{3B28555F-BCF3-601D-A15A-0408660C0EA5}"/>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5"/>
                <a:stretch>
                  <a:fillRect t="-2538" r="-556" b="-710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CE842BC8-CE1C-38CA-DDFB-DC24E24C1905}"/>
                  </a:ext>
                </a:extLst>
              </p:cNvPr>
              <p:cNvSpPr txBox="1"/>
              <p:nvPr/>
            </p:nvSpPr>
            <p:spPr>
              <a:xfrm>
                <a:off x="6985000" y="2709096"/>
                <a:ext cx="4557162" cy="1754326"/>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b="1"/>
                  <a:t>neff_TE0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10" name="CuadroTexto 9">
                <a:extLst>
                  <a:ext uri="{FF2B5EF4-FFF2-40B4-BE49-F238E27FC236}">
                    <a16:creationId xmlns:a16="http://schemas.microsoft.com/office/drawing/2014/main" id="{CE842BC8-CE1C-38CA-DDFB-DC24E24C1905}"/>
                  </a:ext>
                </a:extLst>
              </p:cNvPr>
              <p:cNvSpPr txBox="1">
                <a:spLocks noRot="1" noChangeAspect="1" noMove="1" noResize="1" noEditPoints="1" noAdjustHandles="1" noChangeArrowheads="1" noChangeShapeType="1" noTextEdit="1"/>
              </p:cNvSpPr>
              <p:nvPr/>
            </p:nvSpPr>
            <p:spPr>
              <a:xfrm>
                <a:off x="6985000" y="2709096"/>
                <a:ext cx="4557162" cy="1754326"/>
              </a:xfrm>
              <a:prstGeom prst="rect">
                <a:avLst/>
              </a:prstGeom>
              <a:blipFill>
                <a:blip r:embed="rId6"/>
                <a:stretch>
                  <a:fillRect t="-1736" b="-4514"/>
                </a:stretch>
              </a:blipFill>
            </p:spPr>
            <p:txBody>
              <a:bodyPr/>
              <a:lstStyle/>
              <a:p>
                <a:r>
                  <a:rPr lang="es-ES">
                    <a:noFill/>
                  </a:rPr>
                  <a:t> </a:t>
                </a:r>
              </a:p>
            </p:txBody>
          </p:sp>
        </mc:Fallback>
      </mc:AlternateContent>
      <p:sp>
        <p:nvSpPr>
          <p:cNvPr id="8" name="CuadroTexto 7">
            <a:extLst>
              <a:ext uri="{FF2B5EF4-FFF2-40B4-BE49-F238E27FC236}">
                <a16:creationId xmlns:a16="http://schemas.microsoft.com/office/drawing/2014/main" id="{1490C0C6-AD45-FE70-7A27-68B2118C4BF5}"/>
              </a:ext>
            </a:extLst>
          </p:cNvPr>
          <p:cNvSpPr txBox="1"/>
          <p:nvPr/>
        </p:nvSpPr>
        <p:spPr>
          <a:xfrm>
            <a:off x="6291029" y="3913270"/>
            <a:ext cx="5486560" cy="276999"/>
          </a:xfrm>
          <a:prstGeom prst="rect">
            <a:avLst/>
          </a:prstGeom>
          <a:noFill/>
        </p:spPr>
        <p:txBody>
          <a:bodyPr wrap="square">
            <a:spAutoFit/>
          </a:bodyPr>
          <a:lstStyle/>
          <a:p>
            <a:pPr algn="r"/>
            <a:r>
              <a:rPr lang="en-US" sz="1200" b="1">
                <a:solidFill>
                  <a:schemeClr val="tx1"/>
                </a:solidFill>
                <a:latin typeface="Arial" panose="020B0604020202020204" pitchFamily="34" charset="0"/>
                <a:cs typeface="Arial" panose="020B0604020202020204" pitchFamily="34" charset="0"/>
              </a:rPr>
              <a:t>slab: 150nm</a:t>
            </a:r>
            <a:endParaRPr lang="en-US" sz="1200">
              <a:solidFill>
                <a:schemeClr val="tx1"/>
              </a:solidFill>
              <a:latin typeface="Arial" panose="020B0604020202020204" pitchFamily="34" charset="0"/>
              <a:cs typeface="Arial" panose="020B0604020202020204" pitchFamily="34" charset="0"/>
            </a:endParaRPr>
          </a:p>
        </p:txBody>
      </p:sp>
      <p:pic>
        <p:nvPicPr>
          <p:cNvPr id="11" name="Imagen 10" descr="Gráfico, Gráfico de líneas&#10;&#10;El contenido generado por IA puede ser incorrecto.">
            <a:extLst>
              <a:ext uri="{FF2B5EF4-FFF2-40B4-BE49-F238E27FC236}">
                <a16:creationId xmlns:a16="http://schemas.microsoft.com/office/drawing/2014/main" id="{13094784-F6E2-75D4-D536-6EB45232BB74}"/>
              </a:ext>
            </a:extLst>
          </p:cNvPr>
          <p:cNvPicPr>
            <a:picLocks noChangeAspect="1"/>
          </p:cNvPicPr>
          <p:nvPr/>
        </p:nvPicPr>
        <p:blipFill>
          <a:blip r:embed="rId7"/>
          <a:stretch>
            <a:fillRect/>
          </a:stretch>
        </p:blipFill>
        <p:spPr>
          <a:xfrm>
            <a:off x="6598557" y="1163169"/>
            <a:ext cx="5064801" cy="3183403"/>
          </a:xfrm>
          <a:prstGeom prst="rect">
            <a:avLst/>
          </a:prstGeom>
        </p:spPr>
      </p:pic>
      <p:pic>
        <p:nvPicPr>
          <p:cNvPr id="14" name="Imagen 13" descr="Gráfico, Gráfico de líneas&#10;&#10;El contenido generado por IA puede ser incorrecto.">
            <a:extLst>
              <a:ext uri="{FF2B5EF4-FFF2-40B4-BE49-F238E27FC236}">
                <a16:creationId xmlns:a16="http://schemas.microsoft.com/office/drawing/2014/main" id="{319E6E2D-6FB6-1D18-54BE-952BD606C131}"/>
              </a:ext>
            </a:extLst>
          </p:cNvPr>
          <p:cNvPicPr>
            <a:picLocks noChangeAspect="1"/>
          </p:cNvPicPr>
          <p:nvPr/>
        </p:nvPicPr>
        <p:blipFill>
          <a:blip r:embed="rId8"/>
          <a:stretch>
            <a:fillRect/>
          </a:stretch>
        </p:blipFill>
        <p:spPr>
          <a:xfrm>
            <a:off x="754061" y="1124866"/>
            <a:ext cx="5197316" cy="3260013"/>
          </a:xfrm>
          <a:prstGeom prst="rect">
            <a:avLst/>
          </a:prstGeom>
        </p:spPr>
      </p:pic>
      <p:pic>
        <p:nvPicPr>
          <p:cNvPr id="7" name="Imagen 6">
            <a:extLst>
              <a:ext uri="{FF2B5EF4-FFF2-40B4-BE49-F238E27FC236}">
                <a16:creationId xmlns:a16="http://schemas.microsoft.com/office/drawing/2014/main" id="{E0FAEE77-BE89-25C9-FABE-C12F46760D84}"/>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186561" y="4455061"/>
            <a:ext cx="2746443" cy="1710186"/>
          </a:xfrm>
          <a:prstGeom prst="rect">
            <a:avLst/>
          </a:prstGeom>
        </p:spPr>
      </p:pic>
      <p:pic>
        <p:nvPicPr>
          <p:cNvPr id="13" name="Imagen 12">
            <a:extLst>
              <a:ext uri="{FF2B5EF4-FFF2-40B4-BE49-F238E27FC236}">
                <a16:creationId xmlns:a16="http://schemas.microsoft.com/office/drawing/2014/main" id="{1B81437A-C225-594A-3442-224B6A8BE5C4}"/>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7771983" y="4345741"/>
            <a:ext cx="2873002" cy="1899888"/>
          </a:xfrm>
          <a:prstGeom prst="rect">
            <a:avLst/>
          </a:prstGeom>
        </p:spPr>
      </p:pic>
    </p:spTree>
    <p:extLst>
      <p:ext uri="{BB962C8B-B14F-4D97-AF65-F5344CB8AC3E}">
        <p14:creationId xmlns:p14="http://schemas.microsoft.com/office/powerpoint/2010/main" val="167225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09440" y="88284"/>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A440F587-93A3-E474-C0B0-883BB9DAFD85}"/>
              </a:ext>
            </a:extLst>
          </p:cNvPr>
          <p:cNvSpPr txBox="1"/>
          <p:nvPr/>
        </p:nvSpPr>
        <p:spPr>
          <a:xfrm>
            <a:off x="507374" y="1725599"/>
            <a:ext cx="11198542" cy="1938992"/>
          </a:xfrm>
          <a:prstGeom prst="rect">
            <a:avLst/>
          </a:prstGeom>
          <a:solidFill>
            <a:schemeClr val="bg1">
              <a:lumMod val="95000"/>
            </a:schemeClr>
          </a:solidFill>
          <a:ln w="28575">
            <a:solidFill>
              <a:srgbClr val="E0700D"/>
            </a:solidFill>
          </a:ln>
        </p:spPr>
        <p:txBody>
          <a:bodyPr wrap="square" rtlCol="0">
            <a:spAutoFit/>
          </a:bodyPr>
          <a:lstStyle/>
          <a:p>
            <a:pPr lvl="0" eaLnBrk="0" fontAlgn="base" hangingPunct="0">
              <a:spcBef>
                <a:spcPct val="0"/>
              </a:spcBef>
              <a:spcAft>
                <a:spcPct val="0"/>
              </a:spcAft>
            </a:pPr>
            <a:r>
              <a:rPr lang="es-ES" altLang="es-ES" sz="1200" dirty="0">
                <a:latin typeface="Google Sans Text"/>
              </a:rPr>
              <a:t>En ambas graficas, podemos observar que ambos modos siguen la tendencia decreciente del índice efectivo </a:t>
            </a:r>
            <a:r>
              <a:rPr lang="es-ES" altLang="es-ES" sz="1200" dirty="0" err="1">
                <a:latin typeface="Google Sans Text"/>
              </a:rPr>
              <a:t>neff</a:t>
            </a:r>
            <a:r>
              <a:rPr lang="es-ES" altLang="es-ES" sz="1200" dirty="0">
                <a:latin typeface="Google Sans Text"/>
              </a:rPr>
              <a:t> conforme aumenta la longitud de onda de la misma manera que hemos visto en apartados anteriores. Al ajustar estos datos a un polinomio de segundo grado, el coeficiente lineal nos permite obtener el índice de grupo (ng), que nos informa sobre la velocidad de los pulsos, mientras que el coeficiente de orden dos define el parámetro de dispersión (D), que nos informa sobre cuánto se deforma la señal al viajar.</a:t>
            </a:r>
            <a:endParaRPr lang="es-ES" altLang="es-ES" sz="1200" dirty="0"/>
          </a:p>
          <a:p>
            <a:pPr lvl="0" eaLnBrk="0" fontAlgn="base" hangingPunct="0">
              <a:spcBef>
                <a:spcPct val="0"/>
              </a:spcBef>
              <a:spcAft>
                <a:spcPct val="0"/>
              </a:spcAft>
            </a:pPr>
            <a:r>
              <a:rPr lang="es-ES" altLang="es-ES" sz="1200" dirty="0">
                <a:latin typeface="Google Sans Text"/>
              </a:rPr>
              <a:t>En cuanto a la comparación de modos, el </a:t>
            </a:r>
            <a:r>
              <a:rPr lang="es-ES" altLang="es-ES" sz="1200" b="1" dirty="0">
                <a:latin typeface="Google Sans Text"/>
              </a:rPr>
              <a:t>TE0</a:t>
            </a:r>
            <a:r>
              <a:rPr lang="es-ES" altLang="es-ES" sz="1200" dirty="0">
                <a:latin typeface="Google Sans Text"/>
              </a:rPr>
              <a:t> presenta siempre un </a:t>
            </a:r>
            <a:r>
              <a:rPr lang="es-ES" altLang="es-ES" sz="1200" dirty="0" err="1">
                <a:latin typeface="Google Sans Text"/>
              </a:rPr>
              <a:t>neff</a:t>
            </a:r>
            <a:r>
              <a:rPr lang="es-ES" altLang="es-ES" sz="1200" dirty="0">
                <a:latin typeface="Google Sans Text"/>
              </a:rPr>
              <a:t> mucho mayor que el </a:t>
            </a:r>
            <a:r>
              <a:rPr lang="es-ES" altLang="es-ES" sz="1200" b="1" dirty="0">
                <a:latin typeface="Google Sans Text"/>
              </a:rPr>
              <a:t>TM0</a:t>
            </a:r>
            <a:r>
              <a:rPr lang="es-ES" altLang="es-ES" sz="1200" dirty="0">
                <a:latin typeface="Google Sans Text"/>
              </a:rPr>
              <a:t> en ambas configuraciones. Esto se debe a que, en una guía de 1.2um de ancho pero solo 300nm de alto, el campo eléctrico del modo TE se ajusta mucho mejor a la geometría ancha, logrando un confinamiento superior. Por el contrario, el modo TM vemos que está muy limitado por la poca altura de la guía, lo que hace que esté más cercano a los materiales de alrededor y por tanto tener un índice efectivo más bajo.</a:t>
            </a:r>
            <a:endParaRPr lang="es-ES" altLang="es-ES" sz="1200" dirty="0"/>
          </a:p>
          <a:p>
            <a:pPr lvl="0" eaLnBrk="0" fontAlgn="base" hangingPunct="0">
              <a:spcBef>
                <a:spcPct val="0"/>
              </a:spcBef>
              <a:spcAft>
                <a:spcPct val="0"/>
              </a:spcAft>
            </a:pPr>
            <a:r>
              <a:rPr lang="es-ES" altLang="es-ES" sz="1200" dirty="0">
                <a:latin typeface="Google Sans Text"/>
              </a:rPr>
              <a:t>Al contrastar las dos secciones transversales, la guía </a:t>
            </a:r>
            <a:r>
              <a:rPr lang="es-ES" altLang="es-ES" sz="1200" b="1" dirty="0" err="1">
                <a:latin typeface="Google Sans Text"/>
              </a:rPr>
              <a:t>Shallow</a:t>
            </a:r>
            <a:r>
              <a:rPr lang="es-ES" altLang="es-ES" sz="1200" dirty="0">
                <a:latin typeface="Google Sans Text"/>
              </a:rPr>
              <a:t> ofrece valores de </a:t>
            </a:r>
            <a:r>
              <a:rPr lang="es-ES" altLang="es-ES" sz="1200" dirty="0" err="1">
                <a:latin typeface="Google Sans Text"/>
              </a:rPr>
              <a:t>neff</a:t>
            </a:r>
            <a:r>
              <a:rPr lang="es-ES" altLang="es-ES" sz="1200" dirty="0">
                <a:latin typeface="Google Sans Text"/>
              </a:rPr>
              <a:t> más altos para ambos modos en comparación con la guía </a:t>
            </a:r>
            <a:r>
              <a:rPr lang="es-ES" altLang="es-ES" sz="1200" b="1" dirty="0">
                <a:latin typeface="Google Sans Text"/>
              </a:rPr>
              <a:t>Deep</a:t>
            </a:r>
            <a:r>
              <a:rPr lang="es-ES" altLang="es-ES" sz="1200" dirty="0">
                <a:latin typeface="Google Sans Text"/>
              </a:rPr>
              <a:t>. </a:t>
            </a:r>
            <a:r>
              <a:rPr lang="es-ES" sz="1200" dirty="0"/>
              <a:t>Esa capa adicional que tiene la versión </a:t>
            </a:r>
            <a:r>
              <a:rPr lang="es-ES" sz="1200" dirty="0" err="1"/>
              <a:t>Shallow</a:t>
            </a:r>
            <a:r>
              <a:rPr lang="es-ES" sz="1200" dirty="0"/>
              <a:t> suaviza la transición en los bordes, lo que ayuda a controlar mejor la dispersión. </a:t>
            </a:r>
            <a:r>
              <a:rPr lang="es-ES" altLang="es-ES" sz="1200" dirty="0">
                <a:latin typeface="Google Sans Text"/>
              </a:rPr>
              <a:t>En la guía </a:t>
            </a:r>
            <a:r>
              <a:rPr lang="es-ES" altLang="es-ES" sz="1200" b="1" dirty="0">
                <a:latin typeface="Google Sans Text"/>
              </a:rPr>
              <a:t>Deep</a:t>
            </a:r>
            <a:r>
              <a:rPr lang="es-ES" altLang="es-ES" sz="1200" dirty="0">
                <a:latin typeface="Google Sans Text"/>
              </a:rPr>
              <a:t>, al no disponer del material lateral, el confinamiento es mucho más estricto y fuerte, lo que suele disparar la sensibilidad del modo ante cambios de longitud de onda, aumentando así su parámetro de dispersión.</a:t>
            </a:r>
            <a:endParaRPr lang="es-ES" altLang="es-ES" sz="1200" dirty="0">
              <a:latin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05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37841" y="169694"/>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Bend waveguide radius vs. loss – deep</a:t>
            </a:r>
            <a:br>
              <a:rPr lang="en-US" sz="2500"/>
            </a:br>
            <a:r>
              <a:rPr lang="en-US" b="0"/>
              <a:t>Find  neff_TE0 for </a:t>
            </a:r>
            <a:r>
              <a:rPr lang="en-US" b="0" err="1"/>
              <a:t>wvl</a:t>
            </a:r>
            <a:r>
              <a:rPr lang="en-US" b="0"/>
              <a:t> 1.55 µm, width 1.2 µm for R=25,50,75,100, 125,150 µm</a:t>
            </a:r>
            <a:br>
              <a:rPr lang="en-US" sz="2500"/>
            </a:b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397935"/>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Google Sans Text"/>
                <a:cs typeface="Arial" panose="020B0604020202020204" pitchFamily="34" charset="0"/>
              </a:rPr>
              <a:t>Observando la primera gráfica vemos como las pérdidas totales son la suma de las pérdidas del modo ("</a:t>
            </a:r>
            <a:r>
              <a:rPr lang="es-ES" sz="1200" dirty="0" err="1">
                <a:latin typeface="Google Sans Text"/>
                <a:cs typeface="Arial" panose="020B0604020202020204" pitchFamily="34" charset="0"/>
              </a:rPr>
              <a:t>mode</a:t>
            </a:r>
            <a:r>
              <a:rPr lang="es-ES" sz="1200" dirty="0">
                <a:latin typeface="Google Sans Text"/>
                <a:cs typeface="Arial" panose="020B0604020202020204" pitchFamily="34" charset="0"/>
              </a:rPr>
              <a:t> </a:t>
            </a:r>
            <a:r>
              <a:rPr lang="es-ES" sz="1200" dirty="0" err="1">
                <a:latin typeface="Google Sans Text"/>
                <a:cs typeface="Arial" panose="020B0604020202020204" pitchFamily="34" charset="0"/>
              </a:rPr>
              <a:t>loss</a:t>
            </a:r>
            <a:r>
              <a:rPr lang="es-ES" sz="1200" dirty="0">
                <a:latin typeface="Google Sans Text"/>
                <a:cs typeface="Arial" panose="020B0604020202020204" pitchFamily="34" charset="0"/>
              </a:rPr>
              <a:t>") y las de propagación. Mientras que las de propagación son casi constantes (no varían demasiado), las pérdidas del modo predominan en radios pequeños porque la luz escapa por la parte exterior de la curva. Para que un radio sea considerado seguro (pérdidas inferiores a 0.1 dB/90º), observamos que a 20 </a:t>
            </a:r>
            <a:r>
              <a:rPr lang="es-ES" sz="1200" dirty="0" err="1">
                <a:latin typeface="Google Sans Text"/>
                <a:cs typeface="Arial" panose="020B0604020202020204" pitchFamily="34" charset="0"/>
              </a:rPr>
              <a:t>um</a:t>
            </a:r>
            <a:r>
              <a:rPr lang="es-ES" sz="1200" dirty="0">
                <a:latin typeface="Google Sans Text"/>
                <a:cs typeface="Arial" panose="020B0604020202020204" pitchFamily="34" charset="0"/>
              </a:rPr>
              <a:t> las pérdidas son mayores a 0.1dB/90º ,pero al alcanzar los 30 </a:t>
            </a:r>
            <a:r>
              <a:rPr lang="es-ES" sz="1200" dirty="0" err="1">
                <a:latin typeface="Google Sans Text"/>
                <a:cs typeface="Arial" panose="020B0604020202020204" pitchFamily="34" charset="0"/>
              </a:rPr>
              <a:t>um</a:t>
            </a:r>
            <a:r>
              <a:rPr lang="es-ES" sz="1200" dirty="0">
                <a:latin typeface="Google Sans Text"/>
                <a:cs typeface="Arial" panose="020B0604020202020204" pitchFamily="34" charset="0"/>
              </a:rPr>
              <a:t>, podemos observar un corte con (~0.1 dB). Por lo tanto, el radio de </a:t>
            </a:r>
            <a:r>
              <a:rPr lang="es-ES" sz="1200" b="1" dirty="0">
                <a:latin typeface="Google Sans Text"/>
                <a:cs typeface="Arial" panose="020B0604020202020204" pitchFamily="34" charset="0"/>
              </a:rPr>
              <a:t>30 </a:t>
            </a:r>
            <a:r>
              <a:rPr lang="es-ES" sz="1200" b="1" dirty="0" err="1">
                <a:latin typeface="Google Sans Text"/>
                <a:cs typeface="Arial" panose="020B0604020202020204" pitchFamily="34" charset="0"/>
              </a:rPr>
              <a:t>um</a:t>
            </a:r>
            <a:r>
              <a:rPr lang="es-ES" sz="1200" b="1" dirty="0">
                <a:latin typeface="Google Sans Text"/>
                <a:cs typeface="Arial" panose="020B0604020202020204" pitchFamily="34" charset="0"/>
              </a:rPr>
              <a:t> </a:t>
            </a:r>
            <a:r>
              <a:rPr lang="es-ES" sz="1200" dirty="0">
                <a:latin typeface="Google Sans Text"/>
                <a:cs typeface="Arial" panose="020B0604020202020204" pitchFamily="34" charset="0"/>
              </a:rPr>
              <a:t>es el mínimo seguro para el diseño.</a:t>
            </a:r>
          </a:p>
          <a:p>
            <a:pPr algn="just"/>
            <a:endParaRPr lang="es-ES" sz="1200" dirty="0">
              <a:latin typeface="Google Sans Text"/>
              <a:cs typeface="Arial" panose="020B0604020202020204" pitchFamily="34" charset="0"/>
            </a:endParaRPr>
          </a:p>
          <a:p>
            <a:r>
              <a:rPr lang="es-ES" sz="1200" dirty="0">
                <a:latin typeface="Google Sans Text"/>
                <a:cs typeface="Arial" panose="020B0604020202020204" pitchFamily="34" charset="0"/>
              </a:rPr>
              <a:t>Para la segunda gráfica , podemos observar que la  medida que aumenta el radio de curvatura entre 25 y 145 µm, el índice efectivo </a:t>
            </a:r>
            <a:r>
              <a:rPr lang="es-ES" sz="1200" dirty="0" err="1">
                <a:latin typeface="Google Sans Text"/>
                <a:cs typeface="Arial" panose="020B0604020202020204" pitchFamily="34" charset="0"/>
              </a:rPr>
              <a:t>neff</a:t>
            </a:r>
            <a:r>
              <a:rPr lang="es-ES" sz="1200" dirty="0">
                <a:latin typeface="Google Sans Text"/>
                <a:cs typeface="Arial" panose="020B0604020202020204" pitchFamily="34" charset="0"/>
              </a:rPr>
              <a:t> del modo fundamental TE0 disminuye gradualmente hasta alcanzar una estabilidad, siguiendo una curva decreciente (a excepción del brusco punto el cual corresponde a un valor atípico). Esto ocurre porque, para radios pequeños, el modo se desplaza hacia la parte exterior de la guía , lo que aumenta el índice efectivo respecto al de una guía recta.</a:t>
            </a:r>
          </a:p>
          <a:p>
            <a:r>
              <a:rPr lang="es-ES" sz="1200" dirty="0">
                <a:latin typeface="Google Sans Text"/>
                <a:cs typeface="Arial" panose="020B0604020202020204" pitchFamily="34" charset="0"/>
              </a:rPr>
              <a:t>A partir de aproximadamente 100 µm, </a:t>
            </a:r>
            <a:r>
              <a:rPr lang="es-ES" sz="1200" dirty="0" err="1">
                <a:latin typeface="Google Sans Text"/>
                <a:cs typeface="Arial" panose="020B0604020202020204" pitchFamily="34" charset="0"/>
              </a:rPr>
              <a:t>Neff</a:t>
            </a:r>
            <a:r>
              <a:rPr lang="es-ES" sz="1200" dirty="0">
                <a:latin typeface="Google Sans Text"/>
                <a:cs typeface="Arial" panose="020B0604020202020204" pitchFamily="34" charset="0"/>
              </a:rPr>
              <a:t> se estabiliza alrededor de 1.6143, indicando que la guía se comporta prácticamente como recta. En cambio, para radios muy pequeños (por debajo de 40 µm) el aumento de </a:t>
            </a:r>
            <a:r>
              <a:rPr lang="es-ES" sz="1200" dirty="0" err="1">
                <a:latin typeface="Google Sans Text"/>
                <a:cs typeface="Arial" panose="020B0604020202020204" pitchFamily="34" charset="0"/>
              </a:rPr>
              <a:t>Neff</a:t>
            </a:r>
            <a:r>
              <a:rPr lang="es-ES" sz="1200" dirty="0">
                <a:latin typeface="Google Sans Text"/>
                <a:cs typeface="Arial" panose="020B0604020202020204" pitchFamily="34" charset="0"/>
              </a:rPr>
              <a:t> es más pronunciado, reflejando una mayor distorsión del modo y cambios más significativos en la constante de propagación.</a:t>
            </a:r>
          </a:p>
        </p:txBody>
      </p:sp>
      <p:sp>
        <p:nvSpPr>
          <p:cNvPr id="7" name="Rectángulo 6">
            <a:extLst>
              <a:ext uri="{FF2B5EF4-FFF2-40B4-BE49-F238E27FC236}">
                <a16:creationId xmlns:a16="http://schemas.microsoft.com/office/drawing/2014/main" id="{B5FE8755-B0BF-14B7-64E6-4BBB2560B9A6}"/>
              </a:ext>
            </a:extLst>
          </p:cNvPr>
          <p:cNvSpPr/>
          <p:nvPr/>
        </p:nvSpPr>
        <p:spPr>
          <a:xfrm>
            <a:off x="609441" y="102198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6531063" y="2505670"/>
            <a:ext cx="3875431" cy="1200329"/>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9" name="Imagen 8">
            <a:extLst>
              <a:ext uri="{FF2B5EF4-FFF2-40B4-BE49-F238E27FC236}">
                <a16:creationId xmlns:a16="http://schemas.microsoft.com/office/drawing/2014/main" id="{6893284B-AE46-BCDD-F996-CD1017781F9E}"/>
              </a:ext>
            </a:extLst>
          </p:cNvPr>
          <p:cNvPicPr>
            <a:picLocks noChangeAspect="1"/>
          </p:cNvPicPr>
          <p:nvPr/>
        </p:nvPicPr>
        <p:blipFill>
          <a:blip r:embed="rId5"/>
          <a:stretch>
            <a:fillRect/>
          </a:stretch>
        </p:blipFill>
        <p:spPr>
          <a:xfrm>
            <a:off x="1192834" y="1138835"/>
            <a:ext cx="3875431" cy="3072317"/>
          </a:xfrm>
          <a:prstGeom prst="rect">
            <a:avLst/>
          </a:prstGeom>
        </p:spPr>
      </p:pic>
      <p:pic>
        <p:nvPicPr>
          <p:cNvPr id="15" name="Imagen 14">
            <a:extLst>
              <a:ext uri="{FF2B5EF4-FFF2-40B4-BE49-F238E27FC236}">
                <a16:creationId xmlns:a16="http://schemas.microsoft.com/office/drawing/2014/main" id="{E4125314-C28B-D1A6-D808-C5F20A56C176}"/>
              </a:ext>
            </a:extLst>
          </p:cNvPr>
          <p:cNvPicPr>
            <a:picLocks noChangeAspect="1"/>
          </p:cNvPicPr>
          <p:nvPr/>
        </p:nvPicPr>
        <p:blipFill>
          <a:blip r:embed="rId6"/>
          <a:stretch>
            <a:fillRect/>
          </a:stretch>
        </p:blipFill>
        <p:spPr>
          <a:xfrm>
            <a:off x="6724891" y="1037152"/>
            <a:ext cx="4105561" cy="3174000"/>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0B130-CCCB-4ABD-29DD-37E8D23FECA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79EFEDE-5A17-20A7-2741-FA61052B7FB5}"/>
              </a:ext>
            </a:extLst>
          </p:cNvPr>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a:extLst>
              <a:ext uri="{FF2B5EF4-FFF2-40B4-BE49-F238E27FC236}">
                <a16:creationId xmlns:a16="http://schemas.microsoft.com/office/drawing/2014/main" id="{F6C6FE58-C9EB-75F2-59F2-3E89023C4067}"/>
              </a:ext>
            </a:extLst>
          </p:cNvPr>
          <p:cNvSpPr txBox="1">
            <a:spLocks noGrp="1"/>
          </p:cNvSpPr>
          <p:nvPr>
            <p:ph type="title"/>
          </p:nvPr>
        </p:nvSpPr>
        <p:spPr>
          <a:xfrm>
            <a:off x="5437453" y="3172141"/>
            <a:ext cx="1469185" cy="513715"/>
          </a:xfrm>
          <a:prstGeom prst="rect">
            <a:avLst/>
          </a:prstGeom>
        </p:spPr>
        <p:txBody>
          <a:bodyPr vert="horz" wrap="square" lIns="0" tIns="13335" rIns="0" bIns="0" rtlCol="0">
            <a:spAutoFit/>
          </a:bodyPr>
          <a:lstStyle/>
          <a:p>
            <a:pPr marL="12700">
              <a:lnSpc>
                <a:spcPct val="100000"/>
              </a:lnSpc>
              <a:spcBef>
                <a:spcPts val="105"/>
              </a:spcBef>
            </a:pPr>
            <a:r>
              <a:rPr lang="es-ES" sz="3200" b="1" spc="-5" dirty="0">
                <a:solidFill>
                  <a:srgbClr val="FFFFFF"/>
                </a:solidFill>
                <a:latin typeface="Lucida Sans"/>
                <a:cs typeface="Lucida Sans"/>
              </a:rPr>
              <a:t>EXTRA</a:t>
            </a:r>
            <a:endParaRPr sz="3200" dirty="0">
              <a:latin typeface="Lucida Sans"/>
              <a:cs typeface="Lucida Sans"/>
            </a:endParaRPr>
          </a:p>
        </p:txBody>
      </p:sp>
      <p:sp>
        <p:nvSpPr>
          <p:cNvPr id="5" name="Marcador de número de diapositiva 4">
            <a:extLst>
              <a:ext uri="{FF2B5EF4-FFF2-40B4-BE49-F238E27FC236}">
                <a16:creationId xmlns:a16="http://schemas.microsoft.com/office/drawing/2014/main" id="{98FABA89-1A82-D2BA-60BF-DB050ED44A9D}"/>
              </a:ext>
            </a:extLst>
          </p:cNvPr>
          <p:cNvSpPr>
            <a:spLocks noGrp="1"/>
          </p:cNvSpPr>
          <p:nvPr>
            <p:ph type="sldNum" sz="quarter" idx="7"/>
          </p:nvPr>
        </p:nvSpPr>
        <p:spPr/>
        <p:txBody>
          <a:bodyPr/>
          <a:lstStyle/>
          <a:p>
            <a:fld id="{B6F15528-21DE-4FAA-801E-634DDDAF4B2B}" type="slidenum">
              <a:rPr lang="es-ES" smtClean="0"/>
              <a:t>10</a:t>
            </a:fld>
            <a:endParaRPr lang="es-ES"/>
          </a:p>
        </p:txBody>
      </p:sp>
    </p:spTree>
    <p:extLst>
      <p:ext uri="{BB962C8B-B14F-4D97-AF65-F5344CB8AC3E}">
        <p14:creationId xmlns:p14="http://schemas.microsoft.com/office/powerpoint/2010/main" val="1864980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CE90-F271-9BCD-C48C-CCDCFD4C09F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C10BB2-E04C-B3D6-946E-4267641CB57B}"/>
              </a:ext>
            </a:extLst>
          </p:cNvPr>
          <p:cNvSpPr txBox="1">
            <a:spLocks noGrp="1"/>
          </p:cNvSpPr>
          <p:nvPr>
            <p:ph type="title"/>
          </p:nvPr>
        </p:nvSpPr>
        <p:spPr>
          <a:xfrm>
            <a:off x="598795" y="248770"/>
            <a:ext cx="10994410" cy="1090042"/>
          </a:xfrm>
          <a:prstGeom prst="rect">
            <a:avLst/>
          </a:prstGeom>
        </p:spPr>
        <p:txBody>
          <a:bodyPr vert="horz" wrap="square" lIns="0" tIns="12700" rIns="0" bIns="0" rtlCol="0">
            <a:spAutoFit/>
          </a:bodyPr>
          <a:lstStyle/>
          <a:p>
            <a:pPr marL="12700">
              <a:spcBef>
                <a:spcPts val="100"/>
              </a:spcBef>
            </a:pPr>
            <a:r>
              <a:rPr lang="en-US" sz="2500" dirty="0"/>
              <a:t>EXTRA #1 </a:t>
            </a:r>
            <a:br>
              <a:rPr lang="es-ES" sz="2500" spc="-5" dirty="0">
                <a:latin typeface="+mj-lt"/>
                <a:cs typeface="Lucida Sans"/>
              </a:rPr>
            </a:br>
            <a:r>
              <a:rPr lang="en-US" b="0" dirty="0"/>
              <a:t>1. Repeat the LO.2. wavelength behavior simulations, considering the updated materials and dimensions. </a:t>
            </a:r>
            <a:br>
              <a:rPr lang="en-US" b="0" dirty="0"/>
            </a:br>
            <a:endParaRPr sz="2500" b="0" dirty="0">
              <a:latin typeface="+mj-lt"/>
              <a:cs typeface="Lucida Sans"/>
            </a:endParaRPr>
          </a:p>
        </p:txBody>
      </p:sp>
      <p:pic>
        <p:nvPicPr>
          <p:cNvPr id="83" name="Gráfico 82">
            <a:extLst>
              <a:ext uri="{FF2B5EF4-FFF2-40B4-BE49-F238E27FC236}">
                <a16:creationId xmlns:a16="http://schemas.microsoft.com/office/drawing/2014/main" id="{F17DD09C-4DB7-03DA-BE4A-BC22AA433F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F0BC301-2268-CDFD-AAFC-4FA796A8AD9C}"/>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10CAF92E-4075-742D-EC80-3F6776CAE30B}"/>
              </a:ext>
            </a:extLst>
          </p:cNvPr>
          <p:cNvSpPr>
            <a:spLocks noGrp="1"/>
          </p:cNvSpPr>
          <p:nvPr>
            <p:ph type="ftr" sz="quarter" idx="5"/>
          </p:nvPr>
        </p:nvSpPr>
        <p:spPr/>
        <p:txBody>
          <a:bodyPr/>
          <a:lstStyle/>
          <a:p>
            <a:pPr marL="12700">
              <a:spcBef>
                <a:spcPts val="15"/>
              </a:spcBef>
            </a:pPr>
            <a:r>
              <a:rPr lang="es-ES" spc="-5"/>
              <a:t>LAB 1.0 WAVEGUIDES</a:t>
            </a:r>
          </a:p>
        </p:txBody>
      </p:sp>
      <p:sp>
        <p:nvSpPr>
          <p:cNvPr id="5" name="Rectángulo 4">
            <a:extLst>
              <a:ext uri="{FF2B5EF4-FFF2-40B4-BE49-F238E27FC236}">
                <a16:creationId xmlns:a16="http://schemas.microsoft.com/office/drawing/2014/main" id="{5A0B5ABC-E6C7-AAEC-B3EF-EE0C2DAD7F48}"/>
              </a:ext>
            </a:extLst>
          </p:cNvPr>
          <p:cNvSpPr/>
          <p:nvPr/>
        </p:nvSpPr>
        <p:spPr>
          <a:xfrm>
            <a:off x="562230" y="1016406"/>
            <a:ext cx="5904427" cy="334158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2C890A2-770A-37DA-F225-CD4E07D5D3FD}"/>
              </a:ext>
            </a:extLst>
          </p:cNvPr>
          <p:cNvSpPr txBox="1"/>
          <p:nvPr/>
        </p:nvSpPr>
        <p:spPr>
          <a:xfrm>
            <a:off x="2285455" y="2671278"/>
            <a:ext cx="1980542" cy="923330"/>
          </a:xfrm>
          <a:prstGeom prst="rect">
            <a:avLst/>
          </a:prstGeom>
          <a:noFill/>
        </p:spPr>
        <p:txBody>
          <a:bodyPr wrap="none" rtlCol="0">
            <a:spAutoFit/>
          </a:bodyPr>
          <a:lstStyle/>
          <a:p>
            <a:pPr algn="ctr"/>
            <a:r>
              <a:rPr lang="en-US" b="1"/>
              <a:t>shallow</a:t>
            </a:r>
            <a:r>
              <a:rPr lang="en-US"/>
              <a:t> waveguide</a:t>
            </a:r>
          </a:p>
          <a:p>
            <a:pPr algn="ctr"/>
            <a:endParaRPr lang="en-US"/>
          </a:p>
          <a:p>
            <a:pPr algn="ctr"/>
            <a:r>
              <a:rPr lang="en-US"/>
              <a:t>Paste plot here</a:t>
            </a:r>
          </a:p>
        </p:txBody>
      </p:sp>
      <p:pic>
        <p:nvPicPr>
          <p:cNvPr id="11" name="Imagen 10">
            <a:extLst>
              <a:ext uri="{FF2B5EF4-FFF2-40B4-BE49-F238E27FC236}">
                <a16:creationId xmlns:a16="http://schemas.microsoft.com/office/drawing/2014/main" id="{B08A78DE-929E-AF06-401C-F00800429F8D}"/>
              </a:ext>
            </a:extLst>
          </p:cNvPr>
          <p:cNvPicPr>
            <a:picLocks noChangeAspect="1"/>
          </p:cNvPicPr>
          <p:nvPr/>
        </p:nvPicPr>
        <p:blipFill>
          <a:blip r:embed="rId5"/>
          <a:stretch>
            <a:fillRect/>
          </a:stretch>
        </p:blipFill>
        <p:spPr>
          <a:xfrm>
            <a:off x="737419" y="1090068"/>
            <a:ext cx="5563440" cy="3267923"/>
          </a:xfrm>
          <a:prstGeom prst="rect">
            <a:avLst/>
          </a:prstGeom>
        </p:spPr>
      </p:pic>
      <p:pic>
        <p:nvPicPr>
          <p:cNvPr id="9" name="Imagen 8">
            <a:extLst>
              <a:ext uri="{FF2B5EF4-FFF2-40B4-BE49-F238E27FC236}">
                <a16:creationId xmlns:a16="http://schemas.microsoft.com/office/drawing/2014/main" id="{2BB73053-1BDF-CF20-44BC-FEE07B239347}"/>
              </a:ext>
            </a:extLst>
          </p:cNvPr>
          <p:cNvPicPr>
            <a:picLocks noChangeAspect="1"/>
          </p:cNvPicPr>
          <p:nvPr/>
        </p:nvPicPr>
        <p:blipFill>
          <a:blip r:embed="rId6"/>
          <a:stretch>
            <a:fillRect/>
          </a:stretch>
        </p:blipFill>
        <p:spPr>
          <a:xfrm>
            <a:off x="6177086" y="2833939"/>
            <a:ext cx="5646602" cy="3289806"/>
          </a:xfrm>
          <a:prstGeom prst="rect">
            <a:avLst/>
          </a:prstGeom>
        </p:spPr>
      </p:pic>
      <p:sp>
        <p:nvSpPr>
          <p:cNvPr id="7" name="Rectángulo 6">
            <a:extLst>
              <a:ext uri="{FF2B5EF4-FFF2-40B4-BE49-F238E27FC236}">
                <a16:creationId xmlns:a16="http://schemas.microsoft.com/office/drawing/2014/main" id="{D99FDFDD-A815-0D63-0ED3-A048768015D2}"/>
              </a:ext>
            </a:extLst>
          </p:cNvPr>
          <p:cNvSpPr/>
          <p:nvPr/>
        </p:nvSpPr>
        <p:spPr>
          <a:xfrm>
            <a:off x="6134571" y="2792129"/>
            <a:ext cx="5723446" cy="347848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551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79CE5-4D53-C5B5-34C2-BBAA4184076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6D5C867-CA82-B166-234B-44C6829A9E15}"/>
              </a:ext>
            </a:extLst>
          </p:cNvPr>
          <p:cNvSpPr txBox="1">
            <a:spLocks noGrp="1"/>
          </p:cNvSpPr>
          <p:nvPr>
            <p:ph type="title"/>
          </p:nvPr>
        </p:nvSpPr>
        <p:spPr>
          <a:xfrm>
            <a:off x="598795" y="248770"/>
            <a:ext cx="10994410" cy="1090042"/>
          </a:xfrm>
          <a:prstGeom prst="rect">
            <a:avLst/>
          </a:prstGeom>
        </p:spPr>
        <p:txBody>
          <a:bodyPr vert="horz" wrap="square" lIns="0" tIns="12700" rIns="0" bIns="0" rtlCol="0">
            <a:spAutoFit/>
          </a:bodyPr>
          <a:lstStyle/>
          <a:p>
            <a:pPr marL="12700">
              <a:spcBef>
                <a:spcPts val="100"/>
              </a:spcBef>
            </a:pPr>
            <a:r>
              <a:rPr lang="en-US" sz="2500" dirty="0"/>
              <a:t>EXTRA #1 </a:t>
            </a:r>
            <a:br>
              <a:rPr lang="es-ES" sz="2500" spc="-5" dirty="0">
                <a:latin typeface="+mj-lt"/>
                <a:cs typeface="Lucida Sans"/>
              </a:rPr>
            </a:br>
            <a:r>
              <a:rPr lang="en-US" b="0" dirty="0"/>
              <a:t>1. Repeat the LO.2. wavelength behavior simulations, considering the updated materials and dimensions. </a:t>
            </a:r>
            <a:br>
              <a:rPr lang="en-US" b="0" dirty="0"/>
            </a:br>
            <a:endParaRPr sz="2500" b="0" dirty="0">
              <a:latin typeface="+mj-lt"/>
              <a:cs typeface="Lucida Sans"/>
            </a:endParaRPr>
          </a:p>
        </p:txBody>
      </p:sp>
      <p:pic>
        <p:nvPicPr>
          <p:cNvPr id="83" name="Gráfico 82">
            <a:extLst>
              <a:ext uri="{FF2B5EF4-FFF2-40B4-BE49-F238E27FC236}">
                <a16:creationId xmlns:a16="http://schemas.microsoft.com/office/drawing/2014/main" id="{51650037-4A41-1A9B-39D7-F33FCC9660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EFCE62F-DD20-6819-30BA-6F4C205EE4B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9275F440-A86B-C797-C4EC-0ECCAB67639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976F25D4-238E-3246-2267-40F4F885A886}"/>
              </a:ext>
            </a:extLst>
          </p:cNvPr>
          <p:cNvSpPr txBox="1"/>
          <p:nvPr/>
        </p:nvSpPr>
        <p:spPr>
          <a:xfrm>
            <a:off x="496015" y="1605461"/>
            <a:ext cx="11199970" cy="3077766"/>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Al igual que en el caso anterior, se observa una tendencia decreciente del índice efectivo. En cambio, en este caso el núcleo es de silicio (Si) que tiene un índice de refracción significativamente mayor que el del </a:t>
            </a:r>
            <a:r>
              <a:rPr lang="es-ES" sz="1400" dirty="0" err="1"/>
              <a:t>SiNx</a:t>
            </a:r>
            <a:r>
              <a:rPr lang="es-ES" sz="1400" dirty="0"/>
              <a:t> utilizado anteriormente. Este mayor contraste de índice produce un confinamiento óptico mucho más fuerte, manteniendo los modos más localizados dentro del núcleo de la guía.</a:t>
            </a:r>
          </a:p>
          <a:p>
            <a:pPr algn="just"/>
            <a:r>
              <a:rPr lang="es-ES" sz="1400" dirty="0"/>
              <a:t>Respecto a la comparación entre las dos configuraciones:</a:t>
            </a:r>
          </a:p>
          <a:p>
            <a:pPr algn="just"/>
            <a:endParaRPr lang="es-ES" sz="1400" dirty="0"/>
          </a:p>
          <a:p>
            <a:pPr algn="just"/>
            <a:r>
              <a:rPr lang="es-ES" sz="1400" dirty="0"/>
              <a:t>-En la configuración </a:t>
            </a:r>
            <a:r>
              <a:rPr lang="es-ES" sz="1400" b="1" dirty="0" err="1"/>
              <a:t>shallow</a:t>
            </a:r>
            <a:r>
              <a:rPr lang="es-ES" sz="1400" dirty="0"/>
              <a:t>, debido al alto índice del silicio, el confinamiento sigue siendo muy fuerte. Como resultado, los cuatro modos permanecen claramente confinados, manteniendo valores de </a:t>
            </a:r>
            <a:r>
              <a:rPr lang="es-ES" sz="1400" dirty="0" err="1"/>
              <a:t>Neff</a:t>
            </a:r>
            <a:r>
              <a:rPr lang="es-ES" sz="1400" dirty="0"/>
              <a:t> muy superiores al índice del </a:t>
            </a:r>
            <a:r>
              <a:rPr lang="es-ES" sz="1400" dirty="0" err="1"/>
              <a:t>SiO</a:t>
            </a:r>
            <a:r>
              <a:rPr lang="es-ES" sz="1400" dirty="0"/>
              <a:t>₂ en todo el rango de longitudes de onda analizado.</a:t>
            </a:r>
          </a:p>
          <a:p>
            <a:pPr algn="just"/>
            <a:endParaRPr lang="es-ES" sz="1400" dirty="0"/>
          </a:p>
          <a:p>
            <a:pPr algn="just"/>
            <a:r>
              <a:rPr lang="es-ES" sz="1400" dirty="0"/>
              <a:t>-En la configuración </a:t>
            </a:r>
            <a:r>
              <a:rPr lang="es-ES" sz="1400" b="1" dirty="0" err="1"/>
              <a:t>deep</a:t>
            </a:r>
            <a:r>
              <a:rPr lang="es-ES" sz="1400" dirty="0"/>
              <a:t>, gracias al elevado índice del silicio, los modos de orden inferior continúan bien confinados dentro de la guía, sin acercarse al índice del </a:t>
            </a:r>
            <a:r>
              <a:rPr lang="es-ES" sz="1400" dirty="0" err="1"/>
              <a:t>SiO</a:t>
            </a:r>
            <a:r>
              <a:rPr lang="es-ES" sz="1400" dirty="0"/>
              <a:t>₂. En cambio, a diferencia del caso anterior, se puede observar como el modo 2 se propaga, pero el modo 3 sigue sin poder propagarse. Por tanto , se puede llegar a la conclusión de que el uso de silicio aumenta el confinamiento en el núcleo, permitiendo soportar múltiples modos incluso en geometrías donde anteriormente algunos modos dejaban de estar guiados.</a:t>
            </a:r>
          </a:p>
          <a:p>
            <a:endParaRPr lang="es-ES" sz="1400" dirty="0"/>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6050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03A1C-89B1-35AD-08F0-6CDD861D54B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FFCBCA6-9B4A-A03F-32FE-658F82F5F76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spcBef>
                <a:spcPts val="100"/>
              </a:spcBef>
            </a:pPr>
            <a:r>
              <a:rPr lang="en-US" sz="2500"/>
              <a:t>EXTRA #2</a:t>
            </a:r>
            <a:br>
              <a:rPr lang="es-ES" sz="2500" spc="-5">
                <a:latin typeface="+mj-lt"/>
                <a:cs typeface="Lucida Sans"/>
              </a:rPr>
            </a:br>
            <a:r>
              <a:rPr lang="en-US" b="0"/>
              <a:t>2. Repeat the LO.3. width dependence analysis, now sweeping in a 300nm - 1um range.</a:t>
            </a:r>
            <a:br>
              <a:rPr lang="en-US" b="0"/>
            </a:br>
            <a:endParaRPr lang="en-US" sz="2500" b="0">
              <a:latin typeface="+mj-lt"/>
              <a:cs typeface="Lucida Sans"/>
            </a:endParaRPr>
          </a:p>
        </p:txBody>
      </p:sp>
      <p:pic>
        <p:nvPicPr>
          <p:cNvPr id="83" name="Gráfico 82">
            <a:extLst>
              <a:ext uri="{FF2B5EF4-FFF2-40B4-BE49-F238E27FC236}">
                <a16:creationId xmlns:a16="http://schemas.microsoft.com/office/drawing/2014/main" id="{7DE77484-B8D1-0FE2-0B7E-4C4B5615B7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6833B2D-DFF9-3461-8112-6650DF5B4273}"/>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2D657F6C-11B6-E4C7-2B2F-563196FBBE92}"/>
              </a:ext>
            </a:extLst>
          </p:cNvPr>
          <p:cNvSpPr>
            <a:spLocks noGrp="1"/>
          </p:cNvSpPr>
          <p:nvPr>
            <p:ph type="ftr" sz="quarter" idx="5"/>
          </p:nvPr>
        </p:nvSpPr>
        <p:spPr/>
        <p:txBody>
          <a:bodyPr/>
          <a:lstStyle/>
          <a:p>
            <a:pPr marL="12700">
              <a:spcBef>
                <a:spcPts val="15"/>
              </a:spcBef>
            </a:pPr>
            <a:r>
              <a:rPr lang="es-ES" spc="-5"/>
              <a:t>LAB 1.0 WAVEGUIDES</a:t>
            </a:r>
          </a:p>
        </p:txBody>
      </p:sp>
      <p:sp>
        <p:nvSpPr>
          <p:cNvPr id="7" name="Rectángulo 6">
            <a:extLst>
              <a:ext uri="{FF2B5EF4-FFF2-40B4-BE49-F238E27FC236}">
                <a16:creationId xmlns:a16="http://schemas.microsoft.com/office/drawing/2014/main" id="{FA3A1263-5BC3-AAB2-06E4-29EF2BC705D2}"/>
              </a:ext>
            </a:extLst>
          </p:cNvPr>
          <p:cNvSpPr/>
          <p:nvPr/>
        </p:nvSpPr>
        <p:spPr>
          <a:xfrm>
            <a:off x="609441" y="1146247"/>
            <a:ext cx="11199971" cy="499190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A3BB5D4-4369-5B0F-FE21-F97DB9BC325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183508" y="1362525"/>
            <a:ext cx="7824984" cy="4554619"/>
          </a:xfrm>
          <a:prstGeom prst="rect">
            <a:avLst/>
          </a:prstGeom>
        </p:spPr>
      </p:pic>
    </p:spTree>
    <p:extLst>
      <p:ext uri="{BB962C8B-B14F-4D97-AF65-F5344CB8AC3E}">
        <p14:creationId xmlns:p14="http://schemas.microsoft.com/office/powerpoint/2010/main" val="2504746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2ECBC-E36D-F3BF-550E-8373BC5CD7D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5B31B37-36E8-EE8F-DE3B-54C25B4BA2D0}"/>
              </a:ext>
            </a:extLst>
          </p:cNvPr>
          <p:cNvSpPr txBox="1">
            <a:spLocks noGrp="1"/>
          </p:cNvSpPr>
          <p:nvPr>
            <p:ph type="title"/>
          </p:nvPr>
        </p:nvSpPr>
        <p:spPr>
          <a:xfrm>
            <a:off x="685800" y="642347"/>
            <a:ext cx="10994410" cy="1090042"/>
          </a:xfrm>
          <a:prstGeom prst="rect">
            <a:avLst/>
          </a:prstGeom>
        </p:spPr>
        <p:txBody>
          <a:bodyPr vert="horz" wrap="square" lIns="0" tIns="12700" rIns="0" bIns="0" rtlCol="0">
            <a:spAutoFit/>
          </a:bodyPr>
          <a:lstStyle/>
          <a:p>
            <a:pPr marL="12700">
              <a:spcBef>
                <a:spcPts val="100"/>
              </a:spcBef>
            </a:pPr>
            <a:r>
              <a:rPr lang="en-US" sz="2500" dirty="0"/>
              <a:t>EXTRA #2</a:t>
            </a:r>
            <a:br>
              <a:rPr lang="es-ES" sz="2500" spc="-5" dirty="0">
                <a:latin typeface="+mj-lt"/>
                <a:cs typeface="Lucida Sans"/>
              </a:rPr>
            </a:br>
            <a:r>
              <a:rPr lang="en-US" b="0" dirty="0"/>
              <a:t>2. Repeat the LO.3. width dependence analysis, now sweeping in a 300nm - 1um range.</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298D762A-80A1-D7F5-C206-82CF74BC7F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3F63E64-A6EC-84B7-17D6-167F6EEACB60}"/>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D0111B40-29DA-38BC-E6FF-21D348A7DDB6}"/>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A632954-9FED-3CEE-1262-BCFA93B254D0}"/>
              </a:ext>
            </a:extLst>
          </p:cNvPr>
          <p:cNvSpPr txBox="1"/>
          <p:nvPr/>
        </p:nvSpPr>
        <p:spPr>
          <a:xfrm>
            <a:off x="480239" y="1813768"/>
            <a:ext cx="11199971" cy="2646878"/>
          </a:xfrm>
          <a:prstGeom prst="rect">
            <a:avLst/>
          </a:prstGeom>
          <a:solidFill>
            <a:schemeClr val="bg1">
              <a:lumMod val="95000"/>
            </a:schemeClr>
          </a:solidFill>
          <a:ln w="28575">
            <a:solidFill>
              <a:srgbClr val="E0700D"/>
            </a:solidFill>
          </a:ln>
        </p:spPr>
        <p:txBody>
          <a:bodyPr wrap="square" rtlCol="0">
            <a:spAutoFit/>
          </a:bodyPr>
          <a:lstStyle/>
          <a:p>
            <a:r>
              <a:rPr lang="es-ES" sz="1400" dirty="0"/>
              <a:t>A medida que se incrementa el ancho de la guía entre 0,3 y 1um, se observa que el índice efectivo de todos los modos aumenta de forma pronunciada y continua. En el rango analizado, los Modos 0 y 1 permanecen guiados en todo momento, presentando índices efectivos claramente superiores al del recubrimiento de SiO2</a:t>
            </a:r>
            <a:r>
              <a:rPr lang="ar-AE" sz="1400" dirty="0"/>
              <a:t>. </a:t>
            </a:r>
            <a:r>
              <a:rPr lang="es-ES" sz="1400" dirty="0"/>
              <a:t>Por el contrario, los modos de orden superior muestran cortes para dimensiones pequeñas de la guía. En particular, el Modo 2 comienza a guiarse aproximadamente a partir de 0.45 </a:t>
            </a:r>
            <a:r>
              <a:rPr lang="es-ES" sz="1400" dirty="0" err="1"/>
              <a:t>um</a:t>
            </a:r>
            <a:r>
              <a:rPr lang="es-ES" sz="1400" dirty="0"/>
              <a:t>, mientras que el Modo 3 aparece cerca de 0.6 </a:t>
            </a:r>
            <a:r>
              <a:rPr lang="es-ES" sz="1400" dirty="0" err="1"/>
              <a:t>um</a:t>
            </a:r>
            <a:r>
              <a:rPr lang="es-ES" sz="1400" dirty="0"/>
              <a:t>. </a:t>
            </a:r>
          </a:p>
          <a:p>
            <a:endParaRPr lang="es-ES" sz="1400" dirty="0"/>
          </a:p>
          <a:p>
            <a:r>
              <a:rPr lang="es-ES" sz="1400" dirty="0"/>
              <a:t>En cuanto a la polarización, el mapa de color permite identificar el carácter de cada modo a partir de la fracción TE. El Modo 0 corresponde al modo fundamental TE, con una fracción TE cercana a 1, mientras que el Modo 1 corresponde al modo fundamental TM, con una fracción TE cercana a 0. Por su parte, los Modos 2 y 3 son modos de orden superior que, a medida que aumenta el ancho de la guía, tienden a definir su polarización.</a:t>
            </a:r>
          </a:p>
          <a:p>
            <a:r>
              <a:rPr lang="es-ES" sz="1400" dirty="0"/>
              <a:t>En conjunto, estos resultados demuestran que el ancho de la guía en plataformas de silicio es un parámetro de diseño crítico. El contraste de índice entre el silicio y el SiO2 permite la aparición de modos en dimensiones reducidas donde para el </a:t>
            </a:r>
            <a:r>
              <a:rPr lang="es-ES" sz="1400" dirty="0" err="1"/>
              <a:t>SiNx</a:t>
            </a:r>
            <a:r>
              <a:rPr lang="es-ES" sz="1400" dirty="0"/>
              <a:t> no hubiese sido posible y además el comportamiento varía notablemente frente a variaciones de la geometría de la guía de onda</a:t>
            </a:r>
          </a:p>
          <a:p>
            <a:endParaRPr lang="es-ES" sz="1200" dirty="0"/>
          </a:p>
        </p:txBody>
      </p:sp>
    </p:spTree>
    <p:extLst>
      <p:ext uri="{BB962C8B-B14F-4D97-AF65-F5344CB8AC3E}">
        <p14:creationId xmlns:p14="http://schemas.microsoft.com/office/powerpoint/2010/main" val="2534168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95EC9-02C6-F2E3-F66B-41837AB695B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CA745CB-E00B-A11C-D23F-CF4CE06914FD}"/>
              </a:ext>
            </a:extLst>
          </p:cNvPr>
          <p:cNvSpPr txBox="1">
            <a:spLocks noGrp="1"/>
          </p:cNvSpPr>
          <p:nvPr>
            <p:ph type="title"/>
          </p:nvPr>
        </p:nvSpPr>
        <p:spPr>
          <a:xfrm>
            <a:off x="637841" y="169694"/>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EXTRA#3 – Bend waveguide radius vs. loss – deep</a:t>
            </a:r>
            <a:br>
              <a:rPr lang="en-US" sz="2500" dirty="0"/>
            </a:br>
            <a:r>
              <a:rPr lang="en-US" b="0" dirty="0"/>
              <a:t>Find  neff_TE0 for </a:t>
            </a:r>
            <a:r>
              <a:rPr lang="en-US" b="0" dirty="0" err="1"/>
              <a:t>wvl</a:t>
            </a:r>
            <a:r>
              <a:rPr lang="en-US" b="0" dirty="0"/>
              <a:t> 1.55 µm, width 1.2 µm for R=5 to 30µm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A67449B4-4BF2-8456-ACBD-15C76E1E83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028EE18-C77F-8716-B53C-9E784DA56025}"/>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4FF10985-F897-D69D-0C10-6A033043F54F}"/>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D5473301-DED8-5012-2960-6556A8C94FBB}"/>
              </a:ext>
            </a:extLst>
          </p:cNvPr>
          <p:cNvSpPr txBox="1"/>
          <p:nvPr/>
        </p:nvSpPr>
        <p:spPr>
          <a:xfrm>
            <a:off x="609441" y="4397935"/>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material, se ha </a:t>
            </a:r>
            <a:r>
              <a:rPr lang="en-US" sz="1200" dirty="0" err="1">
                <a:latin typeface="Arial" panose="020B0604020202020204" pitchFamily="34" charset="0"/>
                <a:cs typeface="Arial" panose="020B0604020202020204" pitchFamily="34" charset="0"/>
              </a:rPr>
              <a:t>podido</a:t>
            </a:r>
            <a:r>
              <a:rPr lang="en-US" sz="1200" dirty="0">
                <a:latin typeface="Arial" panose="020B0604020202020204" pitchFamily="34" charset="0"/>
                <a:cs typeface="Arial" panose="020B0604020202020204" pitchFamily="34" charset="0"/>
              </a:rPr>
              <a:t> observar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tratar</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buscar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corte con </a:t>
            </a:r>
            <a:r>
              <a:rPr lang="en-US" sz="1200" dirty="0" err="1">
                <a:latin typeface="Arial" panose="020B0604020202020204" pitchFamily="34" charset="0"/>
                <a:cs typeface="Arial" panose="020B0604020202020204" pitchFamily="34" charset="0"/>
              </a:rPr>
              <a:t>unas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0.1 dB, no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llegar</a:t>
            </a:r>
            <a:r>
              <a:rPr lang="en-US" sz="1200" dirty="0">
                <a:latin typeface="Arial" panose="020B0604020202020204" pitchFamily="34" charset="0"/>
                <a:cs typeface="Arial" panose="020B0604020202020204" pitchFamily="34" charset="0"/>
              </a:rPr>
              <a:t> a observer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corte con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valor. Esto de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bajar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radio a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de 2 um, la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deja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correctamente</a:t>
            </a:r>
            <a:r>
              <a:rPr lang="en-US" sz="1200" dirty="0">
                <a:latin typeface="Arial" panose="020B0604020202020204" pitchFamily="34" charset="0"/>
                <a:cs typeface="Arial" panose="020B0604020202020204" pitchFamily="34" charset="0"/>
              </a:rPr>
              <a:t>. Por tanto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decir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radio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de </a:t>
            </a:r>
            <a:r>
              <a:rPr lang="en-US" sz="1200" b="1" dirty="0">
                <a:latin typeface="Arial" panose="020B0604020202020204" pitchFamily="34" charset="0"/>
                <a:cs typeface="Arial" panose="020B0604020202020204" pitchFamily="34" charset="0"/>
              </a:rPr>
              <a:t>4 um</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de forma </a:t>
            </a:r>
            <a:r>
              <a:rPr lang="en-US" sz="1200" dirty="0" err="1">
                <a:latin typeface="Arial" panose="020B0604020202020204" pitchFamily="34" charset="0"/>
                <a:cs typeface="Arial" panose="020B0604020202020204" pitchFamily="34" charset="0"/>
              </a:rPr>
              <a:t>segura</a:t>
            </a:r>
            <a:r>
              <a:rPr lang="en-US" sz="1200" dirty="0">
                <a:latin typeface="Arial" panose="020B0604020202020204" pitchFamily="34" charset="0"/>
                <a:cs typeface="Arial" panose="020B0604020202020204" pitchFamily="34" charset="0"/>
              </a:rPr>
              <a:t>. Por tanto, </a:t>
            </a:r>
            <a:r>
              <a:rPr lang="en-US" sz="1200" dirty="0" err="1">
                <a:latin typeface="Arial" panose="020B0604020202020204" pitchFamily="34" charset="0"/>
                <a:cs typeface="Arial" panose="020B0604020202020204" pitchFamily="34" charset="0"/>
              </a:rPr>
              <a:t>podiendo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llegar</a:t>
            </a:r>
            <a:r>
              <a:rPr lang="en-US" sz="1200" dirty="0">
                <a:latin typeface="Arial" panose="020B0604020202020204" pitchFamily="34" charset="0"/>
                <a:cs typeface="Arial" panose="020B0604020202020204" pitchFamily="34" charset="0"/>
              </a:rPr>
              <a:t> a la conclusion de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material Si,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mínimo</a:t>
            </a:r>
            <a:r>
              <a:rPr lang="en-US" sz="1200" dirty="0">
                <a:latin typeface="Arial" panose="020B0604020202020204" pitchFamily="34" charset="0"/>
                <a:cs typeface="Arial" panose="020B0604020202020204" pitchFamily="34" charset="0"/>
              </a:rPr>
              <a:t> radio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doblar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manera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segura</a:t>
            </a:r>
            <a:r>
              <a:rPr lang="en-US" sz="1200" dirty="0">
                <a:latin typeface="Arial" panose="020B0604020202020204" pitchFamily="34" charset="0"/>
                <a:cs typeface="Arial" panose="020B0604020202020204" pitchFamily="34" charset="0"/>
              </a:rPr>
              <a:t> es de 26 um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emplea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SiNx</a:t>
            </a:r>
            <a:r>
              <a:rPr lang="en-US" sz="1200" dirty="0">
                <a:latin typeface="Arial" panose="020B0604020202020204" pitchFamily="34" charset="0"/>
                <a:cs typeface="Arial" panose="020B0604020202020204" pitchFamily="34" charset="0"/>
              </a:rPr>
              <a:t>.</a:t>
            </a:r>
          </a:p>
          <a:p>
            <a:pPr algn="just"/>
            <a:r>
              <a:rPr lang="en-US" sz="1200" u="sng"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9C105A8-9BDB-A5D8-AFAC-A6A67667EA31}"/>
              </a:ext>
            </a:extLst>
          </p:cNvPr>
          <p:cNvSpPr/>
          <p:nvPr/>
        </p:nvSpPr>
        <p:spPr>
          <a:xfrm>
            <a:off x="609441" y="102198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Imagen 11">
            <a:extLst>
              <a:ext uri="{FF2B5EF4-FFF2-40B4-BE49-F238E27FC236}">
                <a16:creationId xmlns:a16="http://schemas.microsoft.com/office/drawing/2014/main" id="{076FC325-061E-5EBA-F416-00C4850BF224}"/>
              </a:ext>
            </a:extLst>
          </p:cNvPr>
          <p:cNvPicPr>
            <a:picLocks noChangeAspect="1"/>
          </p:cNvPicPr>
          <p:nvPr/>
        </p:nvPicPr>
        <p:blipFill>
          <a:blip r:embed="rId5"/>
          <a:stretch>
            <a:fillRect/>
          </a:stretch>
        </p:blipFill>
        <p:spPr>
          <a:xfrm>
            <a:off x="3535753" y="1098027"/>
            <a:ext cx="4107972" cy="3153934"/>
          </a:xfrm>
          <a:prstGeom prst="rect">
            <a:avLst/>
          </a:prstGeom>
        </p:spPr>
      </p:pic>
    </p:spTree>
    <p:extLst>
      <p:ext uri="{BB962C8B-B14F-4D97-AF65-F5344CB8AC3E}">
        <p14:creationId xmlns:p14="http://schemas.microsoft.com/office/powerpoint/2010/main" val="1853880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FA3E3-B161-13FC-7D29-58A93323AF8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7AF3D06-79A0-01A0-20D6-B74521BE0E12}"/>
              </a:ext>
            </a:extLst>
          </p:cNvPr>
          <p:cNvSpPr txBox="1">
            <a:spLocks noGrp="1"/>
          </p:cNvSpPr>
          <p:nvPr>
            <p:ph type="title"/>
          </p:nvPr>
        </p:nvSpPr>
        <p:spPr>
          <a:xfrm>
            <a:off x="506819" y="895594"/>
            <a:ext cx="10994410" cy="1166986"/>
          </a:xfrm>
          <a:prstGeom prst="rect">
            <a:avLst/>
          </a:prstGeom>
        </p:spPr>
        <p:txBody>
          <a:bodyPr vert="horz" wrap="square" lIns="0" tIns="12700" rIns="0" bIns="0" rtlCol="0">
            <a:spAutoFit/>
          </a:bodyPr>
          <a:lstStyle/>
          <a:p>
            <a:pPr marL="12700">
              <a:spcBef>
                <a:spcPts val="100"/>
              </a:spcBef>
            </a:pPr>
            <a:r>
              <a:rPr lang="en-US" sz="2500" dirty="0"/>
              <a:t>EXTRA#4 – </a:t>
            </a:r>
            <a:r>
              <a:rPr lang="es-ES" sz="2500" dirty="0"/>
              <a:t>Compare </a:t>
            </a:r>
            <a:r>
              <a:rPr lang="es-ES" sz="2500" dirty="0" err="1"/>
              <a:t>the</a:t>
            </a:r>
            <a:r>
              <a:rPr lang="es-ES" sz="2500" dirty="0"/>
              <a:t> </a:t>
            </a:r>
            <a:r>
              <a:rPr lang="es-ES" sz="2500" dirty="0" err="1"/>
              <a:t>SiNx</a:t>
            </a:r>
            <a:r>
              <a:rPr lang="es-ES" sz="2500" dirty="0"/>
              <a:t> and SOI </a:t>
            </a:r>
            <a:r>
              <a:rPr lang="es-ES" sz="2500" dirty="0" err="1"/>
              <a:t>technologies</a:t>
            </a:r>
            <a:r>
              <a:rPr lang="es-ES" sz="2500" dirty="0"/>
              <a:t>** </a:t>
            </a:r>
            <a:br>
              <a:rPr lang="es-E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84CCD8E-044C-7308-E04B-0AC62D534D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CB8DC84-0B61-CA5E-7D19-3CF98BD0D85D}"/>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57392079-904A-9230-AA06-CC3A8E9640F0}"/>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6A9D9B40-4D5D-5318-9089-600C244D20EC}"/>
              </a:ext>
            </a:extLst>
          </p:cNvPr>
          <p:cNvSpPr txBox="1"/>
          <p:nvPr/>
        </p:nvSpPr>
        <p:spPr>
          <a:xfrm>
            <a:off x="506819" y="1905506"/>
            <a:ext cx="11199971" cy="3046988"/>
          </a:xfrm>
          <a:prstGeom prst="rect">
            <a:avLst/>
          </a:prstGeom>
          <a:solidFill>
            <a:schemeClr val="bg1">
              <a:lumMod val="95000"/>
            </a:schemeClr>
          </a:solidFill>
          <a:ln w="28575">
            <a:solidFill>
              <a:srgbClr val="E0700D"/>
            </a:solidFill>
          </a:ln>
        </p:spPr>
        <p:txBody>
          <a:bodyPr wrap="square" rtlCol="0">
            <a:spAutoFit/>
          </a:bodyPr>
          <a:lstStyle/>
          <a:p>
            <a:r>
              <a:rPr lang="es-ES" sz="1200"/>
              <a:t>Las tecnologías SiNx (Silicon Nitride) y Si presentan diferencias importantes que influyen directamente en el diseño y las prestaciones de las guías de onda fotónicas. Estas diferencias se deben principalmente al contraste de índice de refracción entre el material del núcleo y el material de la cubierta.</a:t>
            </a:r>
          </a:p>
          <a:p>
            <a:endParaRPr lang="es-ES" sz="1200"/>
          </a:p>
          <a:p>
            <a:r>
              <a:rPr lang="es-ES" sz="1200"/>
              <a:t>Utilizando SiNx, el contraste de índice con respecto al SiO2 es moderado. Esto produce un confinamiento más suave. Como consecuencia, las guías de onda suelen requerir dimensiones algo mayores para guiar la luz de forma eficiente y los radios de curvatura deben son relativamente mayores para evitar pérdidas. Sin embargo, este confinamiento más gradual tiene ventajas, ya que suele traducirse en menores pérdidas de propagación y menor sensibilidad a variaciones geométricas o de fabricación.</a:t>
            </a:r>
          </a:p>
          <a:p>
            <a:endParaRPr lang="es-ES" sz="1200"/>
          </a:p>
          <a:p>
            <a:r>
              <a:rPr lang="es-ES" sz="1200"/>
              <a:t>Por otro lado, en la tecnología Si, el núcleo de silicio posee un índice de refracción mucho más elevado, lo que genera un contraste de índice muy alto con el SiO2. Este fuerte contraste produce un confinamiento óptico muy intenso, manteniendo la luz fuertemente localizada dentro del núcleo de la guía. Gracias a ello, es posible diseñar estructuras mucho más compactas y con radios de curvatura pequeños.</a:t>
            </a:r>
          </a:p>
          <a:p>
            <a:r>
              <a:rPr lang="es-ES" sz="1200"/>
              <a:t>Debido a estas características, cada tecnología suele emplearse en contextos diferentes. El uso de Si ,se recomienda especialmente en dispositivos muy compactos, como en circuitos fotónicos complejos o sistemas donde el tamaño del chip es crítico. En cambio, la tecnología SiNx resulta más adecuada en aplicaciones donde se priorizan bajas pérdidas de propagación, estabilidad y tolerancia a las variaciones de fabricación.</a:t>
            </a:r>
          </a:p>
          <a:p>
            <a:endParaRPr lang="es-ES" sz="1200"/>
          </a:p>
          <a:p>
            <a:r>
              <a:rPr lang="es-ES" sz="1200"/>
              <a:t>En resumen, Si es ideal para fotónica altamente integrada y dispositivos compactos, mientras que SiNx se utiliza frecuentemente cuando se busca minimizar pérdidas y mejorar la estabilidad del guiado de la luz.</a:t>
            </a:r>
            <a:endParaRPr lang="es-ES" sz="1200" dirty="0"/>
          </a:p>
        </p:txBody>
      </p:sp>
    </p:spTree>
    <p:extLst>
      <p:ext uri="{BB962C8B-B14F-4D97-AF65-F5344CB8AC3E}">
        <p14:creationId xmlns:p14="http://schemas.microsoft.com/office/powerpoint/2010/main" val="58593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17</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AA377266BE797E4BA8A7CF95C8DD5DBB" ma:contentTypeVersion="15" ma:contentTypeDescription="Crear nuevo documento." ma:contentTypeScope="" ma:versionID="79d3638286b2caf8045c08679ef107ec">
  <xsd:schema xmlns:xsd="http://www.w3.org/2001/XMLSchema" xmlns:xs="http://www.w3.org/2001/XMLSchema" xmlns:p="http://schemas.microsoft.com/office/2006/metadata/properties" xmlns:ns3="e9f83c40-71e6-428b-a36e-7bd142963906" xmlns:ns4="2e693dfe-c9d8-4a3e-99b7-a6a0eb692e36" targetNamespace="http://schemas.microsoft.com/office/2006/metadata/properties" ma:root="true" ma:fieldsID="cd9a6b0058ae168fff72a744d49e27bc" ns3:_="" ns4:_="">
    <xsd:import namespace="e9f83c40-71e6-428b-a36e-7bd142963906"/>
    <xsd:import namespace="2e693dfe-c9d8-4a3e-99b7-a6a0eb692e36"/>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DateTaken" minOccurs="0"/>
                <xsd:element ref="ns3:MediaServiceAutoTags" minOccurs="0"/>
                <xsd:element ref="ns3:MediaLengthInSeconds" minOccurs="0"/>
                <xsd:element ref="ns3:_activity"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f83c40-71e6-428b-a36e-7bd1429639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_activity" ma:index="14"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693dfe-c9d8-4a3e-99b7-a6a0eb692e36" elementFormDefault="qualified">
    <xsd:import namespace="http://schemas.microsoft.com/office/2006/documentManagement/types"/>
    <xsd:import namespace="http://schemas.microsoft.com/office/infopath/2007/PartnerControls"/>
    <xsd:element name="SharedWithUsers" ma:index="15"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talles de uso compartido" ma:internalName="SharedWithDetails" ma:readOnly="true">
      <xsd:simpleType>
        <xsd:restriction base="dms:Note">
          <xsd:maxLength value="255"/>
        </xsd:restriction>
      </xsd:simpleType>
    </xsd:element>
    <xsd:element name="SharingHintHash" ma:index="17"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9f83c40-71e6-428b-a36e-7bd142963906" xsi:nil="true"/>
  </documentManagement>
</p:properties>
</file>

<file path=customXml/itemProps1.xml><?xml version="1.0" encoding="utf-8"?>
<ds:datastoreItem xmlns:ds="http://schemas.openxmlformats.org/officeDocument/2006/customXml" ds:itemID="{4C74B353-4469-4D94-A447-9EE1AEC28B8B}">
  <ds:schemaRefs>
    <ds:schemaRef ds:uri="http://schemas.microsoft.com/sharepoint/v3/contenttype/forms"/>
  </ds:schemaRefs>
</ds:datastoreItem>
</file>

<file path=customXml/itemProps2.xml><?xml version="1.0" encoding="utf-8"?>
<ds:datastoreItem xmlns:ds="http://schemas.openxmlformats.org/officeDocument/2006/customXml" ds:itemID="{1C84D3C1-7718-4CC6-B3C4-6DDAE0D8A349}">
  <ds:schemaRefs>
    <ds:schemaRef ds:uri="2e693dfe-c9d8-4a3e-99b7-a6a0eb692e36"/>
    <ds:schemaRef ds:uri="e9f83c40-71e6-428b-a36e-7bd14296390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B4C211B-C0E7-4F28-99B4-0FF59B39E988}">
  <ds:schemaRefs>
    <ds:schemaRef ds:uri="http://purl.org/dc/terms/"/>
    <ds:schemaRef ds:uri="e9f83c40-71e6-428b-a36e-7bd142963906"/>
    <ds:schemaRef ds:uri="http://schemas.microsoft.com/office/2006/documentManagement/types"/>
    <ds:schemaRef ds:uri="2e693dfe-c9d8-4a3e-99b7-a6a0eb692e36"/>
    <ds:schemaRef ds:uri="http://purl.org/dc/elements/1.1/"/>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281</TotalTime>
  <Words>3020</Words>
  <Application>Microsoft Office PowerPoint</Application>
  <PresentationFormat>Panorámica</PresentationFormat>
  <Paragraphs>150</Paragraphs>
  <Slides>17</Slides>
  <Notes>13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17</vt:i4>
      </vt:variant>
    </vt:vector>
  </HeadingPairs>
  <TitlesOfParts>
    <vt:vector size="26" baseType="lpstr">
      <vt:lpstr>Aptos</vt:lpstr>
      <vt:lpstr>Arial</vt:lpstr>
      <vt:lpstr>Calibri</vt:lpstr>
      <vt:lpstr>Cambria Math</vt:lpstr>
      <vt:lpstr>Google Sans Text</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 Effective index of a waveguide </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EXTRA</vt:lpstr>
      <vt:lpstr>EXTRA #1  1. Repeat the LO.2. wavelength behavior simulations, considering the updated materials and dimensions.  </vt:lpstr>
      <vt:lpstr>EXTRA #1  1. Repeat the LO.2. wavelength behavior simulations, considering the updated materials and dimensions.  </vt:lpstr>
      <vt:lpstr>EXTRA #2 2. Repeat the LO.3. width dependence analysis, now sweeping in a 300nm - 1um range. </vt:lpstr>
      <vt:lpstr>EXTRA #2 2. Repeat the LO.3. width dependence analysis, now sweeping in a 300nm - 1um range. </vt:lpstr>
      <vt:lpstr>EXTRA#3 – Bend waveguide radius vs. loss – deep Find  neff_TE0 for wvl 1.55 µm, width 1.2 µm for R=5 to 30µm </vt:lpstr>
      <vt:lpstr>EXTRA#4 – Compare the SiNx and SOI technologies**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Antonio Pla Rodriguez</cp:lastModifiedBy>
  <cp:revision>2</cp:revision>
  <dcterms:created xsi:type="dcterms:W3CDTF">2025-01-27T02:46:57Z</dcterms:created>
  <dcterms:modified xsi:type="dcterms:W3CDTF">2026-03-10T16:05:01Z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0x010100AA377266BE797E4BA8A7CF95C8DD5DBB</vt:lpwstr>
  </property>
</Properties>
</file>